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83879" y="91440"/>
            <a:ext cx="4007815" cy="6766560"/>
          </a:xfrm>
          <a:prstGeom prst="rect">
            <a:avLst/>
          </a:prstGeom>
          <a:solidFill>
            <a:srgbClr val="202A2D"/>
          </a:solidFill>
          <a:ln>
            <a:solidFill>
              <a:srgbClr val="20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4114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42D2AE"/>
                </a:solidFill>
                <a:latin typeface="Hiragino Sans GB"/>
              </a:rPr>
              <a:t>VIBE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676656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 i="0">
                <a:solidFill>
                  <a:srgbClr val="EDF4F2"/>
                </a:solidFill>
                <a:latin typeface="Hiragino Sans GB"/>
              </a:rPr>
              <a:t>规范化操作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03120"/>
            <a:ext cx="60350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9CAEB0"/>
                </a:solidFill>
                <a:latin typeface="Hiragino Sans GB"/>
              </a:rPr>
              <a:t>给业务人员的 AI 工作落地培训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80360"/>
            <a:ext cx="61264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EDF4F2"/>
                </a:solidFill>
                <a:latin typeface="Hiragino Sans GB"/>
              </a:rPr>
              <a:t>把一件重复工作，交给 AI 做成可用工具。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138928"/>
            <a:ext cx="1353312" cy="475488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257800"/>
            <a:ext cx="13533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 i="0">
                <a:solidFill>
                  <a:srgbClr val="42D2AE"/>
                </a:solidFill>
                <a:latin typeface="Hiragino Sans GB"/>
              </a:rPr>
              <a:t>PRD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5138928"/>
            <a:ext cx="1353312" cy="475488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5257800"/>
            <a:ext cx="13533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 i="0">
                <a:solidFill>
                  <a:srgbClr val="8FB9FF"/>
                </a:solidFill>
                <a:latin typeface="Hiragino Sans GB"/>
              </a:rPr>
              <a:t>DESIGN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3632" y="5138928"/>
            <a:ext cx="1353312" cy="475488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6C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5257800"/>
            <a:ext cx="13533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 i="0">
                <a:solidFill>
                  <a:srgbClr val="F6C85F"/>
                </a:solidFill>
                <a:latin typeface="Hiragino Sans GB"/>
              </a:rPr>
              <a:t>TDD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41264" y="5138928"/>
            <a:ext cx="1353312" cy="475488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41264" y="5257800"/>
            <a:ext cx="13533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 i="0">
                <a:solidFill>
                  <a:srgbClr val="F28B69"/>
                </a:solidFill>
                <a:latin typeface="Hiragino Sans GB"/>
              </a:rPr>
              <a:t>CODING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1024128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42D2AE"/>
                </a:solidFill>
                <a:latin typeface="Hiragino Sans GB"/>
              </a:rPr>
              <a:t>你只需要做三件事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9952" y="1828800"/>
            <a:ext cx="502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42D2AE"/>
                </a:solidFill>
                <a:latin typeface="Hiragino Sans GB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5168" y="1828800"/>
            <a:ext cx="2377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说清工作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8" y="2167128"/>
            <a:ext cx="2240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谁要用、要得到什么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9952" y="3063240"/>
            <a:ext cx="502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8FB9FF"/>
                </a:solidFill>
                <a:latin typeface="Hiragino Sans GB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8" y="3063240"/>
            <a:ext cx="2377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看懂结果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3401568"/>
            <a:ext cx="2240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页面、流程、边界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2" y="4297680"/>
            <a:ext cx="502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F6C85F"/>
                </a:solidFill>
                <a:latin typeface="Hiragino Sans GB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5168" y="4297680"/>
            <a:ext cx="2377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现场验收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36008"/>
            <a:ext cx="2240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结果和证据都能复核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199632"/>
            <a:ext cx="22860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9CAEB0"/>
                </a:solidFill>
                <a:latin typeface="Hiragino Sans GB"/>
              </a:rPr>
              <a:t>培训版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培训目标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先记住三句话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这是什么？用来做什么？做完帮你什么？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把 Skill 当成一张业务工作说明卡，而不是一门工程课。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788920"/>
            <a:ext cx="3337560" cy="21031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3063240"/>
            <a:ext cx="28346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42D2AE"/>
                </a:solidFill>
                <a:latin typeface="Hiragino Sans GB"/>
              </a:rPr>
              <a:t>01 这是什么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3584448"/>
            <a:ext cx="2852928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一套给 AI 用的工作模板：PRD、Design、TDD。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4407408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9CAEB0"/>
                </a:solidFill>
                <a:latin typeface="Hiragino Sans GB"/>
              </a:rPr>
              <a:t>业务想法 → 产品草图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2788920"/>
            <a:ext cx="3337560" cy="21031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3063240"/>
            <a:ext cx="28346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8FB9FF"/>
                </a:solidFill>
                <a:latin typeface="Hiragino Sans GB"/>
              </a:rPr>
              <a:t>02 用来做什么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584448"/>
            <a:ext cx="2852928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把“我想做个工具”变成页面、流程、验收和交接提示。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4407408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9CAEB0"/>
                </a:solidFill>
                <a:latin typeface="Hiragino Sans GB"/>
              </a:rPr>
              <a:t>产品草图 → 可点击页面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38744" y="2788920"/>
            <a:ext cx="3337560" cy="21031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6C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3063240"/>
            <a:ext cx="28346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F6C85F"/>
                </a:solidFill>
                <a:latin typeface="Hiragino Sans GB"/>
              </a:rPr>
              <a:t>03 做完帮你什么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584448"/>
            <a:ext cx="2852928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做 Demo、减少返工、把需求交给 Agent 或同事。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4407408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9CAEB0"/>
                </a:solidFill>
                <a:latin typeface="Hiragino Sans GB"/>
              </a:rPr>
              <a:t>页面 → 可复核交付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5596128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适用：客户跟进、Listing 检查、库存提醒、周报整理、审批台账，以及任何重复的业务动作。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真实场景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从一件真实工作开始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不从技术名词开始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先选一个你今天就想省时间的动作。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697480"/>
            <a:ext cx="5074920" cy="1078992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86207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42D2AE"/>
                </a:solidFill>
                <a:latin typeface="Hiragino Sans GB"/>
              </a:rPr>
              <a:t>跨境电商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834640"/>
            <a:ext cx="3108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Listing 检查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200400"/>
            <a:ext cx="45720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输入：ASIN、规则、竞品
做完：问题清单、修改建议、复核入口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697480"/>
            <a:ext cx="5074920" cy="1078992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286207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8FB9FF"/>
                </a:solidFill>
                <a:latin typeface="Hiragino Sans GB"/>
              </a:rPr>
              <a:t>国内电商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834640"/>
            <a:ext cx="3108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活动 / 售后复盘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3200400"/>
            <a:ext cx="45720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输入：订单、指标、异常记录
做完：处理台、优先级、责任人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114800"/>
            <a:ext cx="5074920" cy="1078992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427939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F28B69"/>
                </a:solidFill>
                <a:latin typeface="Hiragino Sans GB"/>
              </a:rPr>
              <a:t>B 端销售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4251960"/>
            <a:ext cx="3108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客户跟进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617720"/>
            <a:ext cx="45720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输入：沟通记录、阶段、下次动作
做完：今日行动、客户详情、跟进回写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4114800"/>
            <a:ext cx="5074920" cy="1078992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6C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427939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F6C85F"/>
                </a:solidFill>
                <a:latin typeface="Hiragino Sans GB"/>
              </a:rPr>
              <a:t>其他部门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251960"/>
            <a:ext cx="3108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周报 / 审批整理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4617720"/>
            <a:ext cx="45720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输入：表格、文档、待办
做完：汇总页、待处理列表、可追溯记录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715000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统一输入句式：我想让【谁】在【什么场景】下，完成【什么动作】，得到【什么结果】。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四个阶段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四个阶段各自解决什么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每个 Skill 只解决一种不确定性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你不需要先决定框架、数据库或测试工具。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" y="278892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999232"/>
            <a:ext cx="20574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42D2AE"/>
                </a:solidFill>
                <a:latin typeface="Hiragino Sans GB"/>
              </a:rPr>
              <a:t>PRD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401568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我想要什么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886200"/>
            <a:ext cx="20116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9CAEB0"/>
                </a:solidFill>
                <a:latin typeface="Hiragino Sans GB"/>
              </a:rPr>
              <a:t>目标、用户、MVP、不做什么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3319272"/>
            <a:ext cx="3200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 i="0">
                <a:solidFill>
                  <a:srgbClr val="9CAEB0"/>
                </a:solidFill>
                <a:latin typeface="Hiragino Sans GB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278892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999232"/>
            <a:ext cx="20574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8FB9FF"/>
                </a:solidFill>
                <a:latin typeface="Hiragino Sans GB"/>
              </a:rPr>
              <a:t>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01568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页面怎么走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886200"/>
            <a:ext cx="20116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9CAEB0"/>
                </a:solidFill>
                <a:latin typeface="Hiragino Sans GB"/>
              </a:rPr>
              <a:t>入口、状态、流转、异常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16752" y="3319272"/>
            <a:ext cx="3200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 i="0">
                <a:solidFill>
                  <a:srgbClr val="9CAEB0"/>
                </a:solidFill>
                <a:latin typeface="Hiragino Sans GB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64224" y="278892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6C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2999232"/>
            <a:ext cx="20574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F6C85F"/>
                </a:solidFill>
                <a:latin typeface="Hiragino Sans GB"/>
              </a:rPr>
              <a:t>TDD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401568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怎么算完成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3886200"/>
            <a:ext cx="20116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9CAEB0"/>
                </a:solidFill>
                <a:latin typeface="Hiragino Sans GB"/>
              </a:rPr>
              <a:t>现场结果、通过标准、证据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06256" y="3319272"/>
            <a:ext cx="3200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 i="0">
                <a:solidFill>
                  <a:srgbClr val="9CAEB0"/>
                </a:solidFill>
                <a:latin typeface="Hiragino Sans GB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8" y="278892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6608" y="2999232"/>
            <a:ext cx="20574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F28B69"/>
                </a:solidFill>
                <a:latin typeface="Hiragino Sans GB"/>
              </a:rPr>
              <a:t>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8" y="3401568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交给谁做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3886200"/>
            <a:ext cx="20116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9CAEB0"/>
                </a:solidFill>
                <a:latin typeface="Hiragino Sans GB"/>
              </a:rPr>
              <a:t>范围、约束、停止条件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4892040"/>
            <a:ext cx="10698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EDF4F2"/>
                </a:solidFill>
                <a:latin typeface="Hiragino Sans GB"/>
              </a:rPr>
              <a:t>做完的辅助：能演示、能交接、能复核；发现偏差时知道回到哪一层修改。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614416"/>
            <a:ext cx="73152" cy="73152"/>
          </a:xfrm>
          <a:prstGeom prst="roundRect">
            <a:avLst>
              <a:gd name="adj" fmla="val 8000"/>
            </a:avLst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541264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DF4F2"/>
                </a:solidFill>
                <a:latin typeface="Hiragino Sans GB"/>
              </a:rPr>
              <a:t>你负责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" y="5815583"/>
            <a:ext cx="5212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确认结果像不像你的工作、边界是否正确。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5614416"/>
            <a:ext cx="73152" cy="73152"/>
          </a:xfrm>
          <a:prstGeom prst="roundRect">
            <a:avLst>
              <a:gd name="adj" fmla="val 8000"/>
            </a:avLst>
          </a:prstGeom>
          <a:solidFill>
            <a:srgbClr val="F28B69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5541264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DF4F2"/>
                </a:solidFill>
                <a:latin typeface="Hiragino Sans GB"/>
              </a:rPr>
              <a:t>AI 负责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815583"/>
            <a:ext cx="5212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翻译结构、给推荐、补齐可验收的细节。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完整流程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用一个例子走完整流程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客户跟进工作台：每天打开就知道先联系谁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同一条业务案例，依次产出产品草图、页面、验收和交接提示。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34640"/>
            <a:ext cx="2176272" cy="1536192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035808"/>
            <a:ext cx="365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383280"/>
            <a:ext cx="17373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EDF4F2"/>
                </a:solidFill>
                <a:latin typeface="Hiragino Sans GB"/>
              </a:rPr>
              <a:t>PRD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767328"/>
            <a:ext cx="1783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产品草图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11480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9CAEB0"/>
                </a:solidFill>
                <a:latin typeface="Hiragino Sans GB"/>
              </a:rPr>
              <a:t>TASK / DONE /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401568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 i="0">
                <a:solidFill>
                  <a:srgbClr val="9CAEB0"/>
                </a:solidFill>
                <a:latin typeface="Hiragino Sans GB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47287" y="2834640"/>
            <a:ext cx="2176272" cy="1536192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3035808"/>
            <a:ext cx="365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8FB9FF"/>
                </a:solidFill>
                <a:latin typeface="Hiragino Sans GB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0168" y="3383280"/>
            <a:ext cx="17373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EDF4F2"/>
                </a:solidFill>
                <a:latin typeface="Hiragino Sans GB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0168" y="3767328"/>
            <a:ext cx="1783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施工图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411480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9CAEB0"/>
                </a:solidFill>
                <a:latin typeface="Hiragino Sans GB"/>
              </a:rPr>
              <a:t>PAGE / CMP /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3401568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 i="0">
                <a:solidFill>
                  <a:srgbClr val="9CAEB0"/>
                </a:solidFill>
                <a:latin typeface="Hiragino Sans GB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7" y="2834640"/>
            <a:ext cx="2176272" cy="1536192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6C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035808"/>
            <a:ext cx="365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6C85F"/>
                </a:solidFill>
                <a:latin typeface="Hiragino Sans GB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383280"/>
            <a:ext cx="17373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EDF4F2"/>
                </a:solidFill>
                <a:latin typeface="Hiragino Sans GB"/>
              </a:rPr>
              <a:t>TDD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767328"/>
            <a:ext cx="1783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验收契约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11480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9CAEB0"/>
                </a:solidFill>
                <a:latin typeface="Hiragino Sans GB"/>
              </a:rPr>
              <a:t>SMOKE / FLOW /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401568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 i="0">
                <a:solidFill>
                  <a:srgbClr val="9CAEB0"/>
                </a:solidFill>
                <a:latin typeface="Hiragino Sans GB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25128" y="2834640"/>
            <a:ext cx="2176272" cy="1536192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08007" y="3035808"/>
            <a:ext cx="365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28B69"/>
                </a:solidFill>
                <a:latin typeface="Hiragino Sans GB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7" y="3383280"/>
            <a:ext cx="17373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EDF4F2"/>
                </a:solidFill>
                <a:latin typeface="Hiragino Sans GB"/>
              </a:rPr>
              <a:t>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8007" y="3767328"/>
            <a:ext cx="1783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实现与演示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08007" y="411480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9CAEB0"/>
                </a:solidFill>
                <a:latin typeface="Hiragino Sans GB"/>
              </a:rPr>
              <a:t>真实证据 / 回归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074920"/>
            <a:ext cx="106070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EDF4F2"/>
                </a:solidFill>
                <a:latin typeface="Hiragino Sans GB"/>
              </a:rPr>
              <a:t>输入：客户、优先级、沟通记录、下一步动作  →  输出：今日行动、客户详情、跟进回写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669280"/>
            <a:ext cx="10287000" cy="475488"/>
          </a:xfrm>
          <a:prstGeom prst="roundRect">
            <a:avLst>
              <a:gd name="adj" fmla="val 8000"/>
            </a:avLst>
          </a:prstGeom>
          <a:solidFill>
            <a:srgbClr val="163E38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78815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 i="0">
                <a:solidFill>
                  <a:srgbClr val="42D2AE"/>
                </a:solidFill>
                <a:latin typeface="Hiragino Sans GB"/>
              </a:rPr>
              <a:t>最终帮你做到：先看见一个能用的版本，再决定是否增加报表、权限或系统同步。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安装方式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安装包：下载后只需运行一条命令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三项核心 Skill + 安装脚本 + 模板/校验器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PPT 同目录提供完整 ZIP；脚本会先备份已有版本，再安装到 Codex 或 Claude。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51760"/>
            <a:ext cx="4754880" cy="260604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42D2AE"/>
                </a:solidFill>
                <a:latin typeface="Hiragino Sans GB"/>
              </a:rPr>
              <a:t>安装包内容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01568"/>
            <a:ext cx="4114800" cy="1508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Vibe Coding 规范化操作/
├── install.sh / install.ps1
├── claude.md / prd.md / design.md / tdd.md
└── skills/
    ├── prd-master/SKILL.md
    ├── design-master/SKILL.md
    └── tdd-master/SKILL.md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2651760"/>
            <a:ext cx="5166360" cy="260604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926080"/>
            <a:ext cx="2926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8FB9FF"/>
                </a:solidFill>
                <a:latin typeface="Hiragino Sans GB"/>
              </a:rPr>
              <a:t>macOS / Linux · Codex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3310128"/>
            <a:ext cx="448056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EDF4F2"/>
                </a:solidFill>
                <a:latin typeface="Hiragino Sans GB"/>
              </a:rPr>
              <a:t>unzip "Vibe Coding 规范化操作_完整安装包.zip" -d /tmp/vibe-coding
cd "/tmp/vibe-coding/vibe-coding-standardized-operation"
bash ./install.sh codex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4572000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9CAEB0"/>
                </a:solidFill>
                <a:latin typeface="Hiragino Sans GB"/>
              </a:rPr>
              <a:t>Claude：bash ./install.sh claude  ·  两者：bash ./install.sh both  ·  Windows：.\install.ps1 -Target Codex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742432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安装后重启工具；旧版本会移动到 backups/vibe-coding/skills。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工具使用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不同工具，开始方式不同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本地工具安装 Skill；Cloud 工具上传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流程和交付物保持一致，工具只是入口不同。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3337560" cy="23317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2971800"/>
            <a:ext cx="1828800" cy="274320"/>
          </a:xfrm>
          <a:prstGeom prst="roundRect">
            <a:avLst>
              <a:gd name="adj" fmla="val 8000"/>
            </a:avLst>
          </a:prstGeom>
          <a:solidFill>
            <a:srgbClr val="163E38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990088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42D2AE"/>
                </a:solidFill>
                <a:latin typeface="Hiragino Sans GB"/>
              </a:rPr>
              <a:t>Codex / 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747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本机安装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950208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运行 install.sh 或 install.ps1
重启工具
开始 PRD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62272" y="2743200"/>
            <a:ext cx="3337560" cy="23317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81728" y="2971800"/>
            <a:ext cx="1828800" cy="274320"/>
          </a:xfrm>
          <a:prstGeom prst="roundRect">
            <a:avLst>
              <a:gd name="adj" fmla="val 8000"/>
            </a:avLst>
          </a:prstGeom>
          <a:solidFill>
            <a:srgbClr val="3E2B24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2990088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8FB9FF"/>
                </a:solidFill>
                <a:latin typeface="Hiragino Sans GB"/>
              </a:rPr>
              <a:t>Word Buddy /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34747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上传使用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3950208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上传 ZIP 或 skills/
先读取 claude.md
再说“开始 PRD”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3" y="2743200"/>
            <a:ext cx="3337560" cy="23317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19" y="2971800"/>
            <a:ext cx="1828800" cy="274320"/>
          </a:xfrm>
          <a:prstGeom prst="roundRect">
            <a:avLst>
              <a:gd name="adj" fmla="val 8000"/>
            </a:avLst>
          </a:prstGeom>
          <a:solidFill>
            <a:srgbClr val="3E2B24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990088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F28B69"/>
                </a:solidFill>
                <a:latin typeface="Hiragino Sans GB"/>
              </a:rPr>
              <a:t>其他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34747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按需加载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950208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只提供当前阶段 SKILL.md
保留 output 目录
按交付物继续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632704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EDF4F2"/>
                </a:solidFill>
                <a:latin typeface="Hiragino Sans GB"/>
              </a:rPr>
              <a:t>共同触发语句：开始 PRD → 接着做设计 → 生成 TDD 验收契约 → 按当前交付物实现。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今天的任务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今天只做一个小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选一件真实工作，交给 AI 做出第一版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不追求上线；只要能点、能讲、能看出下一步。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017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42D2AE"/>
                </a:solidFill>
                <a:latin typeface="Hiragino Sans GB"/>
              </a:rPr>
              <a:t>01 选任务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520440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客户跟进 / Listing 检查 / 库存提醒 / 周报整理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74320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3017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8FB9FF"/>
                </a:solidFill>
                <a:latin typeface="Hiragino Sans GB"/>
              </a:rPr>
              <a:t>02 发启动句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3520440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开始 PRD：我想做……请按推荐方案直接做一个最小可点击 Demo。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4463" y="274320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6C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19" y="3017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F6C85F"/>
                </a:solidFill>
                <a:latin typeface="Hiragino Sans GB"/>
              </a:rPr>
              <a:t>03 交结果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520440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一个小 Demo + 一页说明：它解决什么、怎么用、哪里还没做。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983480"/>
            <a:ext cx="10424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9CAEB0"/>
                </a:solidFill>
                <a:latin typeface="Hiragino Sans GB"/>
              </a:rPr>
              <a:t>安装：curl -fsSL https://raw.githubusercontent.com/mozhou580-lgtm/vibe-coding-standardized-operation/main/install-online.sh | bash -s -- codex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349240"/>
            <a:ext cx="10424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8FB9FF"/>
                </a:solidFill>
                <a:latin typeface="Hiragino Sans GB"/>
              </a:rPr>
              <a:t>仓库：github.com/mozhou580-lgtm/vibe-coding-standardized-operation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06440"/>
            <a:ext cx="3657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42D2AE"/>
                </a:solidFill>
                <a:latin typeface="Hiragino Sans GB"/>
              </a:rPr>
              <a:t>下一步：开始 PRD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模式选择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先选深度，不要先选技术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Quick / Standard / Tech-constrained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模式决定提问预算和交付物，不决定你必须使用哪种框架。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3337560" cy="23317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2971800"/>
            <a:ext cx="1143000" cy="274320"/>
          </a:xfrm>
          <a:prstGeom prst="roundRect">
            <a:avLst>
              <a:gd name="adj" fmla="val 8000"/>
            </a:avLst>
          </a:prstGeom>
          <a:solidFill>
            <a:srgbClr val="163E38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990088"/>
            <a:ext cx="114300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42D2AE"/>
                </a:solidFill>
                <a:latin typeface="Hiragino Sans GB"/>
              </a:rPr>
              <a:t>Quick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747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默认模式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950208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单人验证 / 低风险 / 先看到结果
通常最多 3 个关键问题
产品草图 + 核心页面 + 5–10 条验收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62272" y="2743200"/>
            <a:ext cx="3337560" cy="23317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81728" y="2971800"/>
            <a:ext cx="1143000" cy="274320"/>
          </a:xfrm>
          <a:prstGeom prst="roundRect">
            <a:avLst>
              <a:gd name="adj" fmla="val 8000"/>
            </a:avLst>
          </a:prstGeom>
          <a:solidFill>
            <a:srgbClr val="3E2B24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2990088"/>
            <a:ext cx="114300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8FB9FF"/>
                </a:solidFill>
                <a:latin typeface="Hiragino Sans GB"/>
              </a:rPr>
              <a:t>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34747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正式交接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3950208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多人协作 / 外部系统 / 客户数据
通常不超过 5 个关键问题
完整 requirements + Design + TDD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3" y="2743200"/>
            <a:ext cx="3337560" cy="23317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19" y="2971800"/>
            <a:ext cx="1143000" cy="274320"/>
          </a:xfrm>
          <a:prstGeom prst="roundRect">
            <a:avLst>
              <a:gd name="adj" fmla="val 8000"/>
            </a:avLst>
          </a:prstGeom>
          <a:solidFill>
            <a:srgbClr val="3E2B24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990088"/>
            <a:ext cx="114300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F28B69"/>
                </a:solidFill>
                <a:latin typeface="Hiragino Sans GB"/>
              </a:rPr>
              <a:t>Tech-constrained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34747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技术约束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950208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既有架构 / 合规 / 性能 / 迁移
先做可行性预检
不能静默放宽需求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632704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EDF4F2"/>
                </a:solidFill>
                <a:latin typeface="Hiragino Sans GB"/>
              </a:rPr>
              <a:t>用户说“用推荐的 / 你定 / 下一步” = 确认当前推荐，不重复问同一项。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案例演示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案例：客户跟进工作台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PRD 先把“我想要的东西”变成产品草图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不先证明宏观价值，先确认用户每天要完成的动作。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971800"/>
            <a:ext cx="2286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F28B69"/>
                </a:solidFill>
                <a:latin typeface="Hiragino Sans GB"/>
              </a:rPr>
              <a:t>业务人员原话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429000"/>
            <a:ext cx="301752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EDF4F2"/>
                </a:solidFill>
                <a:latin typeface="Hiragino Sans GB"/>
              </a:rPr>
              <a:t>“我想要一个客户跟进工作台，让我每天打开就知道哪些客户该联系、上次聊了什么、下一步是什么。”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697480"/>
            <a:ext cx="6400800" cy="23317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2971800"/>
            <a:ext cx="2926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42D2AE"/>
                </a:solidFill>
                <a:latin typeface="Hiragino Sans GB"/>
              </a:rPr>
              <a:t>AI 推荐的 MVP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3474720"/>
            <a:ext cx="73152" cy="73152"/>
          </a:xfrm>
          <a:prstGeom prst="roundRect">
            <a:avLst>
              <a:gd name="adj" fmla="val 8000"/>
            </a:avLst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3401568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DF4F2"/>
                </a:solidFill>
                <a:latin typeface="Hiragino Sans GB"/>
              </a:rPr>
              <a:t>今日行动列表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675888"/>
            <a:ext cx="27432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客户、优先级、最近一次跟进、下一步动作。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3474720"/>
            <a:ext cx="73152" cy="73152"/>
          </a:xfrm>
          <a:prstGeom prst="roundRect">
            <a:avLst>
              <a:gd name="adj" fmla="val 8000"/>
            </a:avLst>
          </a:prstGeom>
          <a:solidFill>
            <a:srgbClr val="8FB9FF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3401568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DF4F2"/>
                </a:solidFill>
                <a:latin typeface="Hiragino Sans GB"/>
              </a:rPr>
              <a:t>客户详情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675888"/>
            <a:ext cx="27432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历史沟通和本次跟进动作放在同一视线内。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4325112"/>
            <a:ext cx="73152" cy="73152"/>
          </a:xfrm>
          <a:prstGeom prst="roundRect">
            <a:avLst>
              <a:gd name="adj" fmla="val 8000"/>
            </a:avLst>
          </a:prstGeom>
          <a:solidFill>
            <a:srgbClr val="F28B69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4920" y="4251960"/>
            <a:ext cx="5486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DF4F2"/>
                </a:solidFill>
                <a:latin typeface="Hiragino Sans GB"/>
              </a:rPr>
              <a:t>明确不做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526280"/>
            <a:ext cx="54864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自动评分、复杂报表、跨系统同步暂不进入 MVP。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650992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F6C85F"/>
                </a:solidFill>
                <a:latin typeface="Hiragino Sans GB"/>
              </a:rPr>
              <a:t>输出：产品草图.md  ·  TASK-01 / DONE-01 / RISK-01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案例演示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DESIGN 把“想法”变成能走的页面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先确定任务流，再决定视觉和技术深度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页面不是装饰；页面是用户完成任务的路径。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788920"/>
            <a:ext cx="3063240" cy="150876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017520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PAGE-01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429000"/>
            <a:ext cx="242316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EDF4F2"/>
                </a:solidFill>
                <a:latin typeface="Hiragino Sans GB"/>
              </a:rPr>
              <a:t>今日行动
看今天该联系谁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7" y="324612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 i="0">
                <a:solidFill>
                  <a:srgbClr val="9CAEB0"/>
                </a:solidFill>
                <a:latin typeface="Hiragino Sans GB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2788920"/>
            <a:ext cx="3063240" cy="150876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3017520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8FB9FF"/>
                </a:solidFill>
                <a:latin typeface="Hiragino Sans GB"/>
              </a:rPr>
              <a:t>PAGE-02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3429000"/>
            <a:ext cx="242316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EDF4F2"/>
                </a:solidFill>
                <a:latin typeface="Hiragino Sans GB"/>
              </a:rPr>
              <a:t>客户详情
回看历史与下一步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324612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 i="0">
                <a:solidFill>
                  <a:srgbClr val="9CAEB0"/>
                </a:solidFill>
                <a:latin typeface="Hiragino Sans GB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2788920"/>
            <a:ext cx="3063240" cy="150876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8" y="3017520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28B69"/>
                </a:solidFill>
                <a:latin typeface="Hiragino Sans GB"/>
              </a:rPr>
              <a:t>PAGE-03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3429000"/>
            <a:ext cx="242316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EDF4F2"/>
                </a:solidFill>
                <a:latin typeface="Hiragino Sans GB"/>
              </a:rPr>
              <a:t>跟进记录
保存结果并可修正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754880"/>
            <a:ext cx="10058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EDF4F2"/>
                </a:solidFill>
                <a:latin typeface="Hiragino Sans GB"/>
              </a:rPr>
              <a:t>每个页面还要写清：初始 / 加载 / 成功 / 失败 / 空 / 无权限 / 异常。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" y="5394960"/>
            <a:ext cx="73152" cy="73152"/>
          </a:xfrm>
          <a:prstGeom prst="roundRect">
            <a:avLst>
              <a:gd name="adj" fmla="val 8000"/>
            </a:avLst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5321808"/>
            <a:ext cx="46634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DF4F2"/>
                </a:solidFill>
                <a:latin typeface="Hiragino Sans GB"/>
              </a:rPr>
              <a:t>Quick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59612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页面 MD + 关键状态 + quick 追溯矩阵。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97880" y="5394960"/>
            <a:ext cx="73152" cy="73152"/>
          </a:xfrm>
          <a:prstGeom prst="roundRect">
            <a:avLst>
              <a:gd name="adj" fmla="val 8000"/>
            </a:avLst>
          </a:prstGeom>
          <a:solidFill>
            <a:srgbClr val="8FB9FF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5321808"/>
            <a:ext cx="4937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DF4F2"/>
                </a:solidFill>
                <a:latin typeface="Hiragino Sans GB"/>
              </a:rPr>
              <a:t>Standard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5596128"/>
            <a:ext cx="49377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9CAEB0"/>
                </a:solidFill>
                <a:latin typeface="Hiragino Sans GB"/>
              </a:rPr>
              <a:t>页面 MD + HTML + 技术方案 + 完整追溯 + HTML 校验。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案例演示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TDD 把“应该能用”变成可验收证据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业务人员不需要选择测试框架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只需要确认：这个结果，现场看到什么才算完成？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10561320" cy="23317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6C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953512"/>
            <a:ext cx="9144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9CAEB0"/>
                </a:solidFill>
                <a:latin typeface="Hiragino Sans GB"/>
              </a:rP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953512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9CAEB0"/>
                </a:solidFill>
                <a:latin typeface="Hiragino Sans GB"/>
              </a:rPr>
              <a:t>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953512"/>
            <a:ext cx="2926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9CAEB0"/>
                </a:solidFill>
                <a:latin typeface="Hiragino Sans GB"/>
              </a:rPr>
              <a:t>通过标准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953512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9CAEB0"/>
                </a:solidFill>
                <a:latin typeface="Hiragino Sans GB"/>
              </a:rPr>
              <a:t>证据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3310128"/>
            <a:ext cx="10104120" cy="0"/>
          </a:xfrm>
          <a:prstGeom prst="line">
            <a:avLst/>
          </a:prstGeom>
          <a:ln w="7620">
            <a:solidFill>
              <a:srgbClr val="3A4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96112" y="3383280"/>
            <a:ext cx="9144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6C85F"/>
                </a:solidFill>
                <a:latin typeface="Hiragino Sans GB"/>
              </a:rPr>
              <a:t>SMOKE-01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8328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打开今日行动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383280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列表可访问、无阻断错误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383280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42D2AE"/>
                </a:solidFill>
                <a:latin typeface="Hiragino Sans GB"/>
              </a:rPr>
              <a:t>命令 + 入口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" y="3694176"/>
            <a:ext cx="10104120" cy="0"/>
          </a:xfrm>
          <a:prstGeom prst="line">
            <a:avLst/>
          </a:prstGeom>
          <a:ln w="7620">
            <a:solidFill>
              <a:srgbClr val="3A4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96112" y="3767328"/>
            <a:ext cx="9144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6C85F"/>
                </a:solidFill>
                <a:latin typeface="Hiragino Sans GB"/>
              </a:rPr>
              <a:t>FLOW-01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767328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查看客户并记录跟进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376732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记录成功，返回详情可见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376732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42D2AE"/>
                </a:solidFill>
                <a:latin typeface="Hiragino Sans GB"/>
              </a:rPr>
              <a:t>浏览器操作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8680" y="4078224"/>
            <a:ext cx="10104120" cy="0"/>
          </a:xfrm>
          <a:prstGeom prst="line">
            <a:avLst/>
          </a:prstGeom>
          <a:ln w="7620">
            <a:solidFill>
              <a:srgbClr val="3A4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96112" y="4151376"/>
            <a:ext cx="9144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6C85F"/>
                </a:solidFill>
                <a:latin typeface="Hiragino Sans GB"/>
              </a:rPr>
              <a:t>DESIGN-01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151376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今日行动页面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151376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结构、内容、入口一致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4151376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42D2AE"/>
                </a:solidFill>
                <a:latin typeface="Hiragino Sans GB"/>
              </a:rPr>
              <a:t>截图对 + 独立看图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8680" y="4462272"/>
            <a:ext cx="10104120" cy="0"/>
          </a:xfrm>
          <a:prstGeom prst="line">
            <a:avLst/>
          </a:prstGeom>
          <a:ln w="7620">
            <a:solidFill>
              <a:srgbClr val="3A4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96112" y="4535424"/>
            <a:ext cx="9144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6C85F"/>
                </a:solidFill>
                <a:latin typeface="Hiragino Sans GB"/>
              </a:rPr>
              <a:t>RULE-01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4535424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重复提交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4535424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不会生成重复记录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4535424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42D2AE"/>
                </a:solidFill>
                <a:latin typeface="Hiragino Sans GB"/>
              </a:rPr>
              <a:t>真实回归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532120"/>
            <a:ext cx="10332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硬规则：没有本轮真实动作和证据，不能写 pass；quick 升级 standard 后，旧台账失效。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交给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交接给 CODING AGENT，不是把压力转出去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给范围、给契约、给停止条件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Agent 的自由度应该用在实现方式，不应该用在猜产品。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6583680" cy="274320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926080"/>
            <a:ext cx="2926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42D2AE"/>
                </a:solidFill>
                <a:latin typeface="Hiragino Sans GB"/>
              </a:rPr>
              <a:t>可复制的交接骨架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83280"/>
            <a:ext cx="5806440" cy="1554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EDF4F2"/>
                </a:solidFill>
                <a:latin typeface="Hiragino Sans GB"/>
              </a:rPr>
              <a:t>任务：实现客户跟进工作台的 MVP 闭环。
范围：今日行动列表 → 客户详情 → 记录下一步。
必须遵守：不新增自动评分、复杂报表、跨系统同步。
完成标准：逐条执行 TDD 验收契约并记录真实证据。
遇到冲突：停止猜测，回到 PRD/Design 修订。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2651760"/>
            <a:ext cx="3337560" cy="274320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2926080"/>
            <a:ext cx="2286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F28B69"/>
                </a:solidFill>
                <a:latin typeface="Hiragino Sans GB"/>
              </a:rPr>
              <a:t>四个交接检查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3401568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28B69"/>
                </a:solidFill>
                <a:latin typeface="Hiragino Sans GB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01568"/>
            <a:ext cx="21031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EDF4F2"/>
                </a:solidFill>
                <a:latin typeface="Hiragino Sans GB"/>
              </a:rPr>
              <a:t>模式字段一致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3785616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28B69"/>
                </a:solidFill>
                <a:latin typeface="Hiragino Sans GB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85616"/>
            <a:ext cx="21031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EDF4F2"/>
                </a:solidFill>
                <a:latin typeface="Hiragino Sans GB"/>
              </a:rPr>
              <a:t>MVP 页面可追踪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6992" y="4169664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28B69"/>
                </a:solidFill>
                <a:latin typeface="Hiragino Sans GB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169664"/>
            <a:ext cx="21031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EDF4F2"/>
                </a:solidFill>
                <a:latin typeface="Hiragino Sans GB"/>
              </a:rPr>
              <a:t>外部依赖有责任人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4553712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28B69"/>
                </a:solidFill>
                <a:latin typeface="Hiragino Sans GB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553712"/>
            <a:ext cx="21031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EDF4F2"/>
                </a:solidFill>
                <a:latin typeface="Hiragino Sans GB"/>
              </a:rPr>
              <a:t>每项验收有证据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个人任务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下发任务：把一个真实工作想法走一遍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个人工作台练习模板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不需要真的上线；需要留下可以被别人接手的演示结果。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606040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42D2AE"/>
                </a:solidFill>
                <a:latin typeface="Hiragino Sans GB"/>
              </a:rPr>
              <a:t>01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2862072"/>
            <a:ext cx="640080" cy="0"/>
          </a:xfrm>
          <a:prstGeom prst="line">
            <a:avLst/>
          </a:prstGeom>
          <a:ln w="27940">
            <a:solidFill>
              <a:srgbClr val="42D2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148840" y="2587752"/>
            <a:ext cx="2834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选一个真实任务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606040"/>
            <a:ext cx="5760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例如：客户跟进、Listing 检查、周报整理、库存提醒。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319272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8FB9FF"/>
                </a:solidFill>
                <a:latin typeface="Hiragino Sans GB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71600" y="3575304"/>
            <a:ext cx="640080" cy="0"/>
          </a:xfrm>
          <a:prstGeom prst="line">
            <a:avLst/>
          </a:prstGeom>
          <a:ln w="27940">
            <a:solidFill>
              <a:srgbClr val="8FB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148840" y="3300984"/>
            <a:ext cx="2834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写一句话想法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319272"/>
            <a:ext cx="5760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说明谁在什么场景下，希望得到什么结果。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032504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F6C85F"/>
                </a:solidFill>
                <a:latin typeface="Hiragino Sans GB"/>
              </a:rPr>
              <a:t>03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4288536"/>
            <a:ext cx="640080" cy="0"/>
          </a:xfrm>
          <a:prstGeom prst="line">
            <a:avLst/>
          </a:prstGeom>
          <a:ln w="27940">
            <a:solidFill>
              <a:srgbClr val="F6C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148840" y="4014216"/>
            <a:ext cx="2834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走 PRD / Design / TDD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032504"/>
            <a:ext cx="5760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每层只补关键内容，不凑问题、不堆文档。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74573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F28B69"/>
                </a:solidFill>
                <a:latin typeface="Hiragino Sans GB"/>
              </a:rPr>
              <a:t>04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371600" y="5001768"/>
            <a:ext cx="640080" cy="0"/>
          </a:xfrm>
          <a:prstGeom prst="line">
            <a:avLst/>
          </a:prstGeom>
          <a:ln w="27940">
            <a:solidFill>
              <a:srgbClr val="F28B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148840" y="4727448"/>
            <a:ext cx="2834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EDF4F2"/>
                </a:solidFill>
                <a:latin typeface="Hiragino Sans GB"/>
              </a:rPr>
              <a:t>交一份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4745736"/>
            <a:ext cx="5760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产品草图 + 页面施工图 + 验收清单，能讲清偏差在哪里。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669280"/>
            <a:ext cx="10149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建议时间：30–45 分钟 · 交付格式：一个 Markdown 过程包 + 一个可点击 HTML 演示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可复制话术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直接这样对 AGENT 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触发语句比背流程更重要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把当前业务目标放在前面，Skill 负责补齐工程结构。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78608"/>
            <a:ext cx="1325880" cy="274320"/>
          </a:xfrm>
          <a:prstGeom prst="roundRect">
            <a:avLst>
              <a:gd name="adj" fmla="val 8000"/>
            </a:avLst>
          </a:prstGeom>
          <a:solidFill>
            <a:srgbClr val="163E38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96896"/>
            <a:ext cx="13258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42D2AE"/>
                </a:solidFill>
                <a:latin typeface="Hiragino Sans GB"/>
              </a:rPr>
              <a:t>开始 PRD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560320"/>
            <a:ext cx="8961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“这是我想做的工作：……请先回放理解、给一版 MVP 推荐，只问会改变结果的问题。”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6000" y="3054096"/>
            <a:ext cx="8823960" cy="0"/>
          </a:xfrm>
          <a:prstGeom prst="line">
            <a:avLst/>
          </a:prstGeom>
          <a:ln w="8890">
            <a:solidFill>
              <a:srgbClr val="3A4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3291840"/>
            <a:ext cx="1325880" cy="274320"/>
          </a:xfrm>
          <a:prstGeom prst="roundRect">
            <a:avLst>
              <a:gd name="adj" fmla="val 8000"/>
            </a:avLst>
          </a:prstGeom>
          <a:solidFill>
            <a:srgbClr val="3E2B24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10128"/>
            <a:ext cx="13258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8FB9FF"/>
                </a:solidFill>
                <a:latin typeface="Hiragino Sans GB"/>
              </a:rPr>
              <a:t>接着做设计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273552"/>
            <a:ext cx="8961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“把已经确认的产品草图变成页面施工图，先给页面拆法和关键状态。”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86000" y="3767328"/>
            <a:ext cx="8823960" cy="0"/>
          </a:xfrm>
          <a:prstGeom prst="line">
            <a:avLst/>
          </a:prstGeom>
          <a:ln w="8890">
            <a:solidFill>
              <a:srgbClr val="3A4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4005071"/>
            <a:ext cx="1325880" cy="274320"/>
          </a:xfrm>
          <a:prstGeom prst="roundRect">
            <a:avLst>
              <a:gd name="adj" fmla="val 8000"/>
            </a:avLst>
          </a:prstGeom>
          <a:solidFill>
            <a:srgbClr val="3E2B24"/>
          </a:solidFill>
          <a:ln>
            <a:solidFill>
              <a:srgbClr val="F6C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023359"/>
            <a:ext cx="13258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F6C85F"/>
                </a:solidFill>
                <a:latin typeface="Hiragino Sans GB"/>
              </a:rPr>
              <a:t>生成 TDD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986783"/>
            <a:ext cx="8961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“定义怎么算完成，给我 5–10 条最少但必须真实验证的验收项。”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86000" y="4480559"/>
            <a:ext cx="8823960" cy="0"/>
          </a:xfrm>
          <a:prstGeom prst="line">
            <a:avLst/>
          </a:prstGeom>
          <a:ln w="8890">
            <a:solidFill>
              <a:srgbClr val="3A4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5800" y="4718303"/>
            <a:ext cx="1325880" cy="274320"/>
          </a:xfrm>
          <a:prstGeom prst="roundRect">
            <a:avLst>
              <a:gd name="adj" fmla="val 8000"/>
            </a:avLst>
          </a:prstGeom>
          <a:solidFill>
            <a:srgbClr val="3E2B24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736591"/>
            <a:ext cx="13258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F28B69"/>
                </a:solidFill>
                <a:latin typeface="Hiragino Sans GB"/>
              </a:rPr>
              <a:t>交给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700016"/>
            <a:ext cx="8961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“按当前 PRD、Design 和 TDD 实现；遇到冲突停止猜测并回到上游。”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286000" y="5193792"/>
            <a:ext cx="8823960" cy="0"/>
          </a:xfrm>
          <a:prstGeom prst="line">
            <a:avLst/>
          </a:prstGeom>
          <a:ln w="8890">
            <a:solidFill>
              <a:srgbClr val="3A4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完成标准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把速度建立在边界上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五条必须记住的规则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这套流程的价值，不是多写文档，而是少走返工。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697480"/>
            <a:ext cx="3063240" cy="9601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862072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42D2AE"/>
                </a:solidFill>
                <a:latin typeface="Hiragino Sans GB"/>
              </a:rPr>
              <a:t>先结果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200400"/>
            <a:ext cx="2606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先确认“我想做出的东西”，再讨论宏观价值。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2697480"/>
            <a:ext cx="3063240" cy="9601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862072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8FB9FF"/>
                </a:solidFill>
                <a:latin typeface="Hiragino Sans GB"/>
              </a:rPr>
              <a:t>少追问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200400"/>
            <a:ext cx="2606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AI 默认给推荐；只问会改变边界、风险或返工成本的问题。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1" y="2697480"/>
            <a:ext cx="3063240" cy="9601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1" y="2862072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F28B69"/>
                </a:solidFill>
                <a:latin typeface="Hiragino Sans GB"/>
              </a:rPr>
              <a:t>不猜测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1" y="3200400"/>
            <a:ext cx="2606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PRD/Design 没写清的行为，不由下游自行发明。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995928"/>
            <a:ext cx="3063240" cy="9601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6C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160520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F6C85F"/>
                </a:solidFill>
                <a:latin typeface="Hiragino Sans GB"/>
              </a:rPr>
              <a:t>有证据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498848"/>
            <a:ext cx="2606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代码写完、旧日志和“应该通过”都不算本轮验收证据。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6552" y="3995928"/>
            <a:ext cx="3063240" cy="9601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9432" y="4160520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42D2AE"/>
                </a:solidFill>
                <a:latin typeface="Hiragino Sans GB"/>
              </a:rPr>
              <a:t>可回退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4498848"/>
            <a:ext cx="2606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生产、权限、凭据、远端仓库和不可逆动作必须单独确认。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715000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EDF4F2"/>
                </a:solidFill>
                <a:latin typeface="Hiragino Sans GB"/>
              </a:rPr>
              <a:t>最终完成 = 真实业务闭环 + 可复核证据 + 知道下一次应该回到哪一层修订。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开始演示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打开 DEMO，按流程走一遍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个人工作台演示模板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课堂上先看案例，再替换成自己的真实任务。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51760"/>
            <a:ext cx="4892040" cy="23317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44368"/>
            <a:ext cx="2011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42D2AE"/>
                </a:solidFill>
                <a:latin typeface="Hiragino Sans GB"/>
              </a:rPr>
              <a:t>演示顺序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01568"/>
            <a:ext cx="4114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EDF4F2"/>
                </a:solidFill>
                <a:latin typeface="Hiragino Sans GB"/>
              </a:rPr>
              <a:t>1. 打开 HTML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721608"/>
            <a:ext cx="4114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EDF4F2"/>
                </a:solidFill>
                <a:latin typeface="Hiragino Sans GB"/>
              </a:rPr>
              <a:t>2. 切换 PRD / Design / TDD / Coding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041648"/>
            <a:ext cx="4114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EDF4F2"/>
                </a:solidFill>
                <a:latin typeface="Hiragino Sans GB"/>
              </a:rPr>
              <a:t>3. 在 Quick / Standard 之间切换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361688"/>
            <a:ext cx="4114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EDF4F2"/>
                </a:solidFill>
                <a:latin typeface="Hiragino Sans GB"/>
              </a:rPr>
              <a:t>4. 点击生成交付物，勾选个人任务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681728"/>
            <a:ext cx="4114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EDF4F2"/>
                </a:solidFill>
                <a:latin typeface="Hiragino Sans GB"/>
              </a:rPr>
              <a:t>5. 把案例换成自己的工作想法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2651760"/>
            <a:ext cx="4983480" cy="23317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2944368"/>
            <a:ext cx="2011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8FB9FF"/>
                </a:solidFill>
                <a:latin typeface="Hiragino Sans GB"/>
              </a:rPr>
              <a:t>交付文件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401568"/>
            <a:ext cx="420624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EDF4F2"/>
                </a:solidFill>
                <a:latin typeface="Hiragino Sans GB"/>
              </a:rPr>
              <a:t>Vibe Coding 规范化操作_培训演示.pptx
vibe-coding-workbench-demo.html
Vibe Coding 规范化操作_完整安装包.zip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389120"/>
            <a:ext cx="4297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培训后：每个人提交一份自己的最小演示包。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715000"/>
            <a:ext cx="3657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42D2AE"/>
                </a:solidFill>
                <a:latin typeface="Hiragino Sans GB"/>
              </a:rPr>
              <a:t>下一步：开始 PRD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一键上手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完整复制卡：安装、启动、继续推进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截图里的四句操作话术全部放在这里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先复制安装命令，再复制启动句；后面按顺序继续说即可。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10789920" cy="9601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33472"/>
            <a:ext cx="1280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Codex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80"/>
            <a:ext cx="10241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EDF4F2"/>
                </a:solidFill>
                <a:latin typeface="Menlo"/>
              </a:rPr>
              <a:t>curl -fsSL https://raw.githubusercontent.com/mozhou580-lgtm/vibe-coding-standardized-operation/main/install-online.sh | bash -s -- codex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11880"/>
            <a:ext cx="10789920" cy="96012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76472"/>
            <a:ext cx="1280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8FB9FF"/>
                </a:solidFill>
                <a:latin typeface="Hiragino Sans GB"/>
              </a:rPr>
              <a:t>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10241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EDF4F2"/>
                </a:solidFill>
                <a:latin typeface="Menlo"/>
              </a:rPr>
              <a:t>curl -fsSL https://raw.githubusercontent.com/mozhou580-lgtm/vibe-coding-standardized-operation/main/install-online.sh | bash -s -- claude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00600"/>
            <a:ext cx="10789920" cy="914400"/>
          </a:xfrm>
          <a:prstGeom prst="roundRect">
            <a:avLst>
              <a:gd name="adj" fmla="val 8000"/>
            </a:avLst>
          </a:prstGeom>
          <a:solidFill>
            <a:srgbClr val="202A2D"/>
          </a:solidFill>
          <a:ln>
            <a:solidFill>
              <a:srgbClr val="F6C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65192"/>
            <a:ext cx="1280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6C85F"/>
                </a:solidFill>
                <a:latin typeface="Hiragino Sans GB"/>
              </a:rPr>
              <a:t>一句话启动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257800"/>
            <a:ext cx="101498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EDF4F2"/>
                </a:solidFill>
                <a:latin typeface="Hiragino Sans GB"/>
              </a:rPr>
              <a:t>开始 PRD：我想做一个客户跟进工作台，请按推荐方案直接做一个最小可点击 Demo；只问会改变结果的问题。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2D2AE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36576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9CAEB0"/>
                </a:solidFill>
                <a:latin typeface="Hiragino Sans GB"/>
              </a:rPr>
              <a:t>VIBE CODING 规范化操作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246888"/>
            <a:ext cx="3017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跟着 SKILL 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9CAEB0"/>
                </a:solidFill>
                <a:latin typeface="Hiragino Sans GB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2D2AE"/>
                </a:solidFill>
                <a:latin typeface="Hiragino Sans GB"/>
              </a:rPr>
              <a:t>接下来只需要继续说这三句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1060704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F4F2"/>
                </a:solidFill>
                <a:latin typeface="Hiragino Sans GB"/>
              </a:rPr>
              <a:t>让 AI 按 PRD → Design → TDD → Demo 顺序推进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0241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9CAEB0"/>
                </a:solidFill>
                <a:latin typeface="Hiragino Sans GB"/>
              </a:rPr>
              <a:t>复盘 HTML 的核心：事实 AI 查，决策你拍；先定义完成，再开始做。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633472"/>
            <a:ext cx="2011680" cy="274320"/>
          </a:xfrm>
          <a:prstGeom prst="roundRect">
            <a:avLst>
              <a:gd name="adj" fmla="val 8000"/>
            </a:avLst>
          </a:prstGeom>
          <a:solidFill>
            <a:srgbClr val="3E2B24"/>
          </a:solidFill>
          <a:ln>
            <a:solidFill>
              <a:srgbClr val="8F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651760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8FB9FF"/>
                </a:solidFill>
                <a:latin typeface="Hiragino Sans GB"/>
              </a:rPr>
              <a:t>接着做设计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606040"/>
            <a:ext cx="80467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接着做设计：把刚才确认的产品草图变成页面和关键状态。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71800" y="3172968"/>
            <a:ext cx="8092440" cy="0"/>
          </a:xfrm>
          <a:prstGeom prst="line">
            <a:avLst/>
          </a:prstGeom>
          <a:ln w="8890">
            <a:solidFill>
              <a:srgbClr val="3A4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3232" y="3410712"/>
            <a:ext cx="2011680" cy="274320"/>
          </a:xfrm>
          <a:prstGeom prst="roundRect">
            <a:avLst>
              <a:gd name="adj" fmla="val 8000"/>
            </a:avLst>
          </a:prstGeom>
          <a:solidFill>
            <a:srgbClr val="3E2B24"/>
          </a:solidFill>
          <a:ln>
            <a:solidFill>
              <a:srgbClr val="F6C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F6C85F"/>
                </a:solidFill>
                <a:latin typeface="Hiragino Sans GB"/>
              </a:rPr>
              <a:t>生成 TDD 验收契约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383280"/>
            <a:ext cx="80467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生成 TDD 验收契约：告诉我现场看到什么才算完成。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3950208"/>
            <a:ext cx="8092440" cy="0"/>
          </a:xfrm>
          <a:prstGeom prst="line">
            <a:avLst/>
          </a:prstGeom>
          <a:ln w="8890">
            <a:solidFill>
              <a:srgbClr val="3A4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13232" y="4187952"/>
            <a:ext cx="2011680" cy="274320"/>
          </a:xfrm>
          <a:prstGeom prst="roundRect">
            <a:avLst>
              <a:gd name="adj" fmla="val 8000"/>
            </a:avLst>
          </a:prstGeom>
          <a:solidFill>
            <a:srgbClr val="3E2B24"/>
          </a:solidFill>
          <a:ln>
            <a:solidFill>
              <a:srgbClr val="F28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206240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F28B69"/>
                </a:solidFill>
                <a:latin typeface="Hiragino Sans GB"/>
              </a:rPr>
              <a:t>按当前交付物实现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160520"/>
            <a:ext cx="80467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EDF4F2"/>
                </a:solidFill>
                <a:latin typeface="Hiragino Sans GB"/>
              </a:rPr>
              <a:t>按当前 PRD、Design 和 TDD 做出小 Demo；遇到冲突先停下来问我。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71800" y="4727448"/>
            <a:ext cx="8092440" cy="0"/>
          </a:xfrm>
          <a:prstGeom prst="line">
            <a:avLst/>
          </a:prstGeom>
          <a:ln w="8890">
            <a:solidFill>
              <a:srgbClr val="3A4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13232" y="5166360"/>
            <a:ext cx="10424160" cy="731520"/>
          </a:xfrm>
          <a:prstGeom prst="roundRect">
            <a:avLst>
              <a:gd name="adj" fmla="val 8000"/>
            </a:avLst>
          </a:prstGeom>
          <a:solidFill>
            <a:srgbClr val="163E38"/>
          </a:solidFill>
          <a:ln>
            <a:solidFill>
              <a:srgbClr val="42D2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394960"/>
            <a:ext cx="10012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42D2AE"/>
                </a:solidFill>
                <a:latin typeface="Hiragino Sans GB"/>
              </a:rPr>
              <a:t>记住：Agent 是能力很强但需要管理的新同事；Demo、截图和验收记录才是“完成”的证据。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