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a58c81c88a4034" /><Relationship Type="http://schemas.openxmlformats.org/officeDocument/2006/relationships/extended-properties" Target="/docProps/app.xml" Id="R509660dd936e415a" /><Relationship Type="http://schemas.openxmlformats.org/officeDocument/2006/relationships/officeDocument" Target="/ppt/presentation.xml" Id="Refc3b955eb734c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e6b723215542a0"/>
  </p:sldMasterIdLst>
  <p:notesMasterIdLst>
    <p:notesMasterId xmlns:r="http://schemas.openxmlformats.org/officeDocument/2006/relationships" r:id="R1ac60001c4294b04"/>
  </p:notesMasterIdLst>
  <p:sldIdLst>
    <p:sldId xmlns:r="http://schemas.openxmlformats.org/officeDocument/2006/relationships" id="256" r:id="R20671a4bb6dc4f98"/>
    <p:sldId xmlns:r="http://schemas.openxmlformats.org/officeDocument/2006/relationships" id="257" r:id="R04da3faea90e42c6"/>
    <p:sldId xmlns:r="http://schemas.openxmlformats.org/officeDocument/2006/relationships" id="258" r:id="Rb7bfa05f45624a9e"/>
    <p:sldId xmlns:r="http://schemas.openxmlformats.org/officeDocument/2006/relationships" id="259" r:id="R6de1f71146184298"/>
    <p:sldId xmlns:r="http://schemas.openxmlformats.org/officeDocument/2006/relationships" id="260" r:id="R1ab31ebeb8c84132"/>
    <p:sldId xmlns:r="http://schemas.openxmlformats.org/officeDocument/2006/relationships" id="261" r:id="R57f465d7d9844f0d"/>
    <p:sldId xmlns:r="http://schemas.openxmlformats.org/officeDocument/2006/relationships" id="262" r:id="Rb2ea540e457143e3"/>
    <p:sldId xmlns:r="http://schemas.openxmlformats.org/officeDocument/2006/relationships" id="263" r:id="R7218f976de714c11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7baaa825a14d35" /><Relationship Type="http://schemas.openxmlformats.org/officeDocument/2006/relationships/slideMaster" Target="/ppt/slideMasters/slideMaster1.xml" Id="Ra2e6b723215542a0" /><Relationship Type="http://schemas.openxmlformats.org/officeDocument/2006/relationships/notesMaster" Target="/ppt/notesMasters/notesMaster1.xml" Id="R1ac60001c4294b04" /><Relationship Type="http://schemas.openxmlformats.org/officeDocument/2006/relationships/presProps" Target="/ppt/presProps.xml" Id="R7800fa1de3104dae" /><Relationship Type="http://schemas.openxmlformats.org/officeDocument/2006/relationships/viewProps" Target="/ppt/viewProps.xml" Id="R6c5dc79444e746b4" /><Relationship Type="http://schemas.openxmlformats.org/officeDocument/2006/relationships/tableStyles" Target="/ppt/tableStyles.xml" Id="R0c7c0d6ec99e4369" /><Relationship Type="http://schemas.openxmlformats.org/officeDocument/2006/relationships/slide" Target="/ppt/slides/slide1.xml" Id="R20671a4bb6dc4f98" /><Relationship Type="http://schemas.openxmlformats.org/officeDocument/2006/relationships/slide" Target="/ppt/slides/slide2.xml" Id="R04da3faea90e42c6" /><Relationship Type="http://schemas.openxmlformats.org/officeDocument/2006/relationships/slide" Target="/ppt/slides/slide3.xml" Id="Rb7bfa05f45624a9e" /><Relationship Type="http://schemas.openxmlformats.org/officeDocument/2006/relationships/slide" Target="/ppt/slides/slide4.xml" Id="R6de1f71146184298" /><Relationship Type="http://schemas.openxmlformats.org/officeDocument/2006/relationships/slide" Target="/ppt/slides/slide5.xml" Id="R1ab31ebeb8c84132" /><Relationship Type="http://schemas.openxmlformats.org/officeDocument/2006/relationships/slide" Target="/ppt/slides/slide6.xml" Id="R57f465d7d9844f0d" /><Relationship Type="http://schemas.openxmlformats.org/officeDocument/2006/relationships/slide" Target="/ppt/slides/slide7.xml" Id="Rb2ea540e457143e3" /><Relationship Type="http://schemas.openxmlformats.org/officeDocument/2006/relationships/slide" Target="/ppt/slides/slide8.xml" Id="R7218f976de714c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65c87e120f4e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c5ceeef97547d4" /><Relationship Type="http://schemas.openxmlformats.org/officeDocument/2006/relationships/notesMaster" Target="/ppt/notesMasters/notesMaster1.xml" Id="R8135eaafda1f47c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6d9635fa2a490c" /><Relationship Type="http://schemas.openxmlformats.org/officeDocument/2006/relationships/notesMaster" Target="/ppt/notesMasters/notesMaster1.xml" Id="Rec1240d76e4740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39335666e94d54" /><Relationship Type="http://schemas.openxmlformats.org/officeDocument/2006/relationships/notesMaster" Target="/ppt/notesMasters/notesMaster1.xml" Id="R7d9f4ee3e6f04d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d7f7e3326dd466a" /><Relationship Type="http://schemas.openxmlformats.org/officeDocument/2006/relationships/notesMaster" Target="/ppt/notesMasters/notesMaster1.xml" Id="R2d4c71bbf9c54c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07263e31e8456f" /><Relationship Type="http://schemas.openxmlformats.org/officeDocument/2006/relationships/notesMaster" Target="/ppt/notesMasters/notesMaster1.xml" Id="R576b64c0285243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d9b2cbae5c4423" /><Relationship Type="http://schemas.openxmlformats.org/officeDocument/2006/relationships/notesMaster" Target="/ppt/notesMasters/notesMaster1.xml" Id="R5223122a267944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b9becf598d4912" /><Relationship Type="http://schemas.openxmlformats.org/officeDocument/2006/relationships/notesMaster" Target="/ppt/notesMasters/notesMaster1.xml" Id="R53c6f6f312cb4af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9cdc284c614493" /><Relationship Type="http://schemas.openxmlformats.org/officeDocument/2006/relationships/notesMaster" Target="/ppt/notesMasters/notesMaster1.xml" Id="R01eea746945a49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cafd98444b4e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f90c8b1c1a443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765b49363445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3a8bac76fb402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a16a90f1c24c2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15815e87ae43e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ba31f98e1c488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ceb38834f6409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d66b63d8c34dc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fefce2945b4e1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ef70dfa8784ed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6546A4-3A31-42C5-9DF1-D839E078D0A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C1C4D05-AAE5-4360-80C7-5D57BE77E3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3300CC-2659-469D-A581-B6536D3D31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6697C9E-5251-4B2A-894D-9BA397B0F0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D568109-1C1A-40DC-A0A3-4981DC7B3E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679744-E724-475B-AFBA-A054119F8A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7F7D741-1C33-4876-9123-421B35D3BA5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50C599-F4BF-45B3-80B4-C806742F80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5221C5-F0DF-4B2B-B46D-B7124CAA864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63726D-4225-4EB0-99C3-A2E28B4F58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59E190A-6F29-4A38-BDCD-875B0F8E4A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395286E-F75A-4C25-9339-257E8F1126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DCF142A-3FDC-45E8-9962-FEBFA7665E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AFFC81-92BC-43D4-A54D-39E14E116FD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11EE542-A46E-4FC4-BEEE-8746B5FF66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FBDE7-6929-4132-8613-50A6CD14C2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744D550-9E35-48EC-811B-7D2A337F794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53F4687-419B-41E8-A73C-AFAB2FBAD55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37AB9FF-25E5-4856-A789-8D3EC4FE8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E8AA2-39D1-4397-9FF7-9E9771E36E0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FF2097-87E7-4A64-B631-09A18878D1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FBA54A-2282-46B5-81A0-868B513DD2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EBB40A-6D49-405A-9436-07FDC37BA7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A217F92-BE46-4F42-94AA-2A708CF7B12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2F81490-A26A-4CE7-A2C7-62A25D16350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72BBCE5-2DE2-44ED-86C7-A81B13AAB52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96E54D0-F011-4363-BCAB-C5D510B55BC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4BDA618-ECC8-45FE-B831-BC01F61A61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2C6F5B0-B78E-4B35-A174-C8F8941592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D1D2D4-8049-4253-ACCB-73B2065A51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4F65C4A-E078-4009-A1D6-519803E381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F2D8C4B-92E0-4EFF-8DF3-F025D7B041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3F3794A-6F31-4B97-9534-27FF9DD4972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ADBF7D6-4C00-44CE-82FE-5D446FFCFD3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52E24EE-1E2E-4073-B5BA-FC292D0EE36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872AF77-B8BF-4743-A193-7F21D750A5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0E8B7C-72A9-4699-9C67-08D96E7975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FB427AB-F5EA-4040-A844-DA56C836643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03E4810-1726-4CA7-9BAB-8EA4BB459A2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4C122A3-BB4C-4E66-902D-D108983581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7ADFBD5-7701-4881-BE88-69CC7E4F1E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5B143B5-7956-4951-B61F-46F58E3D8C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BD3F29-E252-4D41-8CFF-07F586F250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7BD16DF-77FF-4EBB-8432-67C0671600B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1E65FB1-DBA0-40BE-BF54-DA1094C49F0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033739B-CAA1-41AC-83D7-4E54FA3F50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6188773-462E-48EE-AA57-957FC7D8802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5AD78F2-4375-4121-AE87-A9EA97E7C2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C453B0-3E2E-4B3A-A717-60664CC1A3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1CC119C-A471-48AF-AD83-6AB9D46592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3EC0B9-61B0-4B25-B1C5-6216CBFB46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D9C3A5D-ECA2-4FA3-A5B7-E296FDCF58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0D475E-61FD-447E-96A1-B043F6B82E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B1E1811-A7F2-4FAD-AC97-68C7F160A1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C4916B-9F62-4B4B-90A3-94385E7F73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E2D84C-C698-4A61-8FB3-FD8E93DAF7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4011547-B022-4EED-8282-015447FE051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DC58E4B-DEA8-4620-A5C2-1538F42C53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8659067a8146ad" /><Relationship Type="http://schemas.openxmlformats.org/officeDocument/2006/relationships/slideLayout" Target="/ppt/slideLayouts/slideLayout1.xml" Id="R6614457d3dc94671" /><Relationship Type="http://schemas.openxmlformats.org/officeDocument/2006/relationships/slideLayout" Target="/ppt/slideLayouts/slideLayout2.xml" Id="Ra27ff4f2f8ff46e2" /><Relationship Type="http://schemas.openxmlformats.org/officeDocument/2006/relationships/slideLayout" Target="/ppt/slideLayouts/slideLayout3.xml" Id="R4f60c095e30c44c2" /><Relationship Type="http://schemas.openxmlformats.org/officeDocument/2006/relationships/slideLayout" Target="/ppt/slideLayouts/slideLayout4.xml" Id="Rb49d3b52fc9f4545" /><Relationship Type="http://schemas.openxmlformats.org/officeDocument/2006/relationships/slideLayout" Target="/ppt/slideLayouts/slideLayout5.xml" Id="Rf38383e8d4eb483a" /><Relationship Type="http://schemas.openxmlformats.org/officeDocument/2006/relationships/slideLayout" Target="/ppt/slideLayouts/slideLayout6.xml" Id="Rc66cda2554d4488b" /><Relationship Type="http://schemas.openxmlformats.org/officeDocument/2006/relationships/slideLayout" Target="/ppt/slideLayouts/slideLayout7.xml" Id="Rd3b058722651484e" /><Relationship Type="http://schemas.openxmlformats.org/officeDocument/2006/relationships/slideLayout" Target="/ppt/slideLayouts/slideLayout8.xml" Id="R1926475e53344051" /><Relationship Type="http://schemas.openxmlformats.org/officeDocument/2006/relationships/slideLayout" Target="/ppt/slideLayouts/slideLayout9.xml" Id="R6e46a507d09c464b" /><Relationship Type="http://schemas.openxmlformats.org/officeDocument/2006/relationships/slideLayout" Target="/ppt/slideLayouts/slideLayout10.xml" Id="R41c3c67dfd854c6f" /><Relationship Type="http://schemas.openxmlformats.org/officeDocument/2006/relationships/slideLayout" Target="/ppt/slideLayouts/slideLayout11.xml" Id="R55d126c18743491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3780CA7-E226-4AB5-9CFE-75B2ADFC2B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C5BD43-2BC4-48F8-97EC-F13988DB4C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7FBB9B-6F2A-4920-8996-FF9780D62F4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DED3772-70BA-4319-B05A-BFD11E738D1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981C37-8A76-4122-9CA8-CF5F16CD85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14457d3dc94671"/>
    <p:sldLayoutId xmlns:r="http://schemas.openxmlformats.org/officeDocument/2006/relationships" id="2147483650" r:id="Ra27ff4f2f8ff46e2"/>
    <p:sldLayoutId xmlns:r="http://schemas.openxmlformats.org/officeDocument/2006/relationships" id="2147483651" r:id="R4f60c095e30c44c2"/>
    <p:sldLayoutId xmlns:r="http://schemas.openxmlformats.org/officeDocument/2006/relationships" id="2147483652" r:id="Rb49d3b52fc9f4545"/>
    <p:sldLayoutId xmlns:r="http://schemas.openxmlformats.org/officeDocument/2006/relationships" id="2147483653" r:id="Rf38383e8d4eb483a"/>
    <p:sldLayoutId xmlns:r="http://schemas.openxmlformats.org/officeDocument/2006/relationships" id="2147483654" r:id="Rc66cda2554d4488b"/>
    <p:sldLayoutId xmlns:r="http://schemas.openxmlformats.org/officeDocument/2006/relationships" id="2147483655" r:id="Rd3b058722651484e"/>
    <p:sldLayoutId xmlns:r="http://schemas.openxmlformats.org/officeDocument/2006/relationships" id="2147483656" r:id="R1926475e53344051"/>
    <p:sldLayoutId xmlns:r="http://schemas.openxmlformats.org/officeDocument/2006/relationships" id="2147483657" r:id="R6e46a507d09c464b"/>
    <p:sldLayoutId xmlns:r="http://schemas.openxmlformats.org/officeDocument/2006/relationships" id="2147483658" r:id="R41c3c67dfd854c6f"/>
    <p:sldLayoutId xmlns:r="http://schemas.openxmlformats.org/officeDocument/2006/relationships" id="2147483659" r:id="R55d126c18743491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895671dda641d1" /><Relationship Type="http://schemas.openxmlformats.org/officeDocument/2006/relationships/notesSlide" Target="/ppt/notesSlides/notesSlide1.xml" Id="Re35b874266c345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6915371824e8d" /><Relationship Type="http://schemas.openxmlformats.org/officeDocument/2006/relationships/notesSlide" Target="/ppt/notesSlides/notesSlide2.xml" Id="R4cab5d99835a48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0f9d96ac1d14832" /><Relationship Type="http://schemas.openxmlformats.org/officeDocument/2006/relationships/notesSlide" Target="/ppt/notesSlides/notesSlide3.xml" Id="R4991c769f98b44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d5741120434fe6" /><Relationship Type="http://schemas.openxmlformats.org/officeDocument/2006/relationships/notesSlide" Target="/ppt/notesSlides/notesSlide4.xml" Id="R4593b61bd04041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5acb5710464fff" /><Relationship Type="http://schemas.openxmlformats.org/officeDocument/2006/relationships/notesSlide" Target="/ppt/notesSlides/notesSlide5.xml" Id="Rd0a8fe87c6c144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7ad451970246ec" /><Relationship Type="http://schemas.openxmlformats.org/officeDocument/2006/relationships/notesSlide" Target="/ppt/notesSlides/notesSlide6.xml" Id="R75337b65edcb4e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232cb7c445f435f" /><Relationship Type="http://schemas.openxmlformats.org/officeDocument/2006/relationships/notesSlide" Target="/ppt/notesSlides/notesSlide7.xml" Id="Rb4ccf7959d5143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36606ace7941da" /><Relationship Type="http://schemas.openxmlformats.org/officeDocument/2006/relationships/notesSlide" Target="/ppt/notesSlides/notesSlide8.xml" Id="Raebc19dbb111455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7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D03F290-7D3E-4A56-997F-0F9A574F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2AE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224A43A-3E21-4673-B019-47EB340E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4572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42D2AE"/>
                </a:solidFill>
                <a:latin typeface="Hiragino Sans GB"/>
                <a:ea typeface="Hiragino Sans GB"/>
                <a:cs typeface="Hiragino Sans GB"/>
              </a:rPr>
              <a:t>VIBE CODING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47F293F-EE72-4298-818A-60AC36B7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64008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规范化操作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DAB9314-66B5-497A-8BC6-16755272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77440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给业务团队的一套 AI 实操方法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04F6D97-68BD-4121-9B4E-98696BCB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7639"/>
            <a:ext cx="10515600" cy="9601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48C7800-1F3B-4521-82EE-3BB6AB96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79392"/>
            <a:ext cx="10058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一句话安装 → 一句话启动 → 跟着 Skill 走 → 做一个小 Demo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A77C00-5E2E-4BF5-B434-145ED1CC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788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F6C85F"/>
                </a:solidFill>
                <a:latin typeface="Hiragino Sans GB"/>
                <a:ea typeface="Hiragino Sans GB"/>
                <a:cs typeface="Hiragino Sans GB"/>
              </a:rPr>
              <a:t>有问题，直接找 AIBP。</a:t>
            </a:r>
          </a:p>
        </p:txBody>
      </p:sp>
    </p:spTree>
    <p:extLst>
      <p:ext uri="{BB962C8B-B14F-4D97-AF65-F5344CB8AC3E}">
        <p14:creationId xmlns:p14="http://schemas.microsoft.com/office/powerpoint/2010/main" val="200079993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A10191-5694-4AB9-B890-8B792005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19"/>
          </a:solidFill>
          <a:ln xmlns:a="http://schemas.openxmlformats.org/drawingml/2006/main" w="0">
            <a:solidFill>
              <a:srgbClr val="12171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3E5DAA-C27A-4A22-9A3E-8A5E7233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2AE"/>
          </a:solidFill>
          <a:ln xmlns:a="http://schemas.openxmlformats.org/drawingml/2006/main" w="0">
            <a:solidFill>
              <a:srgbClr val="42D2A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1482CD-E59D-4810-BF78-3964C63C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1450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9CAEB0"/>
                </a:solidFill>
              </a:defRPr>
            </a:pPr>
            <a:r>
              <a:rPr sz="600" b="1">
                <a:solidFill>
                  <a:srgbClr val="9CAEB0"/>
                </a:solidFill>
              </a:rPr>
              <a:t>VIBE CODING 规范化操作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5545D9-B6E9-4FE1-BA9C-ADCE3D34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DF4F2"/>
                </a:solidFill>
              </a:defRPr>
            </a:pPr>
            <a:r>
              <a:rPr sz="2250" b="1">
                <a:solidFill>
                  <a:srgbClr val="EDF4F2"/>
                </a:solidFill>
              </a:rPr>
              <a:t>为什么要 PRD、Design、TDD？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9375E1-C2D2-46ED-B03B-1E78E1D6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1920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9CAEB0"/>
                </a:solidFill>
              </a:defRPr>
            </a:pPr>
            <a:r>
              <a:rPr sz="1050" b="0">
                <a:solidFill>
                  <a:srgbClr val="9CAEB0"/>
                </a:solidFill>
              </a:rPr>
              <a:t>不是为了写更多文档，而是让 AI 不要猜。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E65172-B80A-4F6F-BCF2-C4D0E18D1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47875"/>
            <a:ext cx="257175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 w="9525">
            <a:solidFill>
              <a:srgbClr val="42D2A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B6947-1E21-4634-88C5-B30CEE83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42D2AE"/>
                </a:solidFill>
              </a:defRPr>
            </a:pPr>
            <a:r>
              <a:rPr sz="1350" b="1">
                <a:solidFill>
                  <a:srgbClr val="42D2AE"/>
                </a:solidFill>
              </a:rPr>
              <a:t>PRD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B556A4-1C41-4AFD-9981-34F0978DD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2143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DF4F2"/>
                </a:solidFill>
              </a:defRPr>
            </a:pPr>
            <a:r>
              <a:rPr sz="1275" b="1">
                <a:solidFill>
                  <a:srgbClr val="EDF4F2"/>
                </a:solidFill>
              </a:rPr>
              <a:t>先说清楚要做什么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5AEEC1-6CFE-49E4-81C2-30CC9E6C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143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EDF4F2"/>
                </a:solidFill>
              </a:defRPr>
            </a:pPr>
            <a:r>
              <a:rPr sz="975" b="0">
                <a:solidFill>
                  <a:srgbClr val="EDF4F2"/>
                </a:solidFill>
              </a:rPr>
              <a:t>把你的工作想法整理成：谁用、做什么、先做哪一小部分。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434B16-BDA1-4D6C-9FF2-EC1F72AD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47875"/>
            <a:ext cx="257175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 w="9525">
            <a:solidFill>
              <a:srgbClr val="8FB9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A68B62-09B9-4206-9581-807D8355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6695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FB9FF"/>
                </a:solidFill>
              </a:defRPr>
            </a:pPr>
            <a:r>
              <a:rPr sz="1350" b="1">
                <a:solidFill>
                  <a:srgbClr val="8FB9FF"/>
                </a:solidFill>
              </a:rPr>
              <a:t>Design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CFBD42-5AFF-4628-9BFD-6506CEC9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86050"/>
            <a:ext cx="2143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DF4F2"/>
                </a:solidFill>
              </a:defRPr>
            </a:pPr>
            <a:r>
              <a:rPr sz="1275" b="1">
                <a:solidFill>
                  <a:srgbClr val="EDF4F2"/>
                </a:solidFill>
              </a:rPr>
              <a:t>再说清楚怎么用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5AB169-231A-4984-9B2D-94EA87FF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05150"/>
            <a:ext cx="2143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EDF4F2"/>
                </a:solidFill>
              </a:defRPr>
            </a:pPr>
            <a:r>
              <a:rPr sz="975" b="0">
                <a:solidFill>
                  <a:srgbClr val="EDF4F2"/>
                </a:solidFill>
              </a:rPr>
              <a:t>把想法变成页面和操作顺序，让你能直接看、直接点。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5D5536-15AC-463E-81C1-A6FE2F92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47875"/>
            <a:ext cx="2571750" cy="1762125"/>
          </a:xfrm>
          <a:prstGeom xmlns:a="http://schemas.openxmlformats.org/drawingml/2006/main" prst="roundRect">
            <a:avLst>
              <a:gd name="adj" fmla="val 6486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 w="9525">
            <a:solidFill>
              <a:srgbClr val="F6C8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E052CA-F73F-42E2-8A98-5B290971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6695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6C85F"/>
                </a:solidFill>
              </a:defRPr>
            </a:pPr>
            <a:r>
              <a:rPr sz="1350" b="1">
                <a:solidFill>
                  <a:srgbClr val="F6C85F"/>
                </a:solidFill>
              </a:rPr>
              <a:t>TDD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BC2471-7251-4087-BA2E-2BFECA8D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86050"/>
            <a:ext cx="2143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DF4F2"/>
                </a:solidFill>
              </a:defRPr>
            </a:pPr>
            <a:r>
              <a:rPr sz="1275" b="1">
                <a:solidFill>
                  <a:srgbClr val="EDF4F2"/>
                </a:solidFill>
              </a:rPr>
              <a:t>最后说清楚怎么算完成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109B90-E781-483A-8BDD-1B62D6D7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2143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EDF4F2"/>
                </a:solidFill>
              </a:defRPr>
            </a:pPr>
            <a:r>
              <a:rPr sz="975" b="0">
                <a:solidFill>
                  <a:srgbClr val="EDF4F2"/>
                </a:solidFill>
              </a:rPr>
              <a:t>提前写好现场要看到什么，避免 AI 说“完成了”但结果不能用。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979AD9-A1A7-404A-A5A0-20D1C529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24350"/>
            <a:ext cx="81534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163E38"/>
          </a:solidFill>
          <a:ln xmlns:a="http://schemas.openxmlformats.org/drawingml/2006/main" w="9525">
            <a:solidFill>
              <a:srgbClr val="42D2A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D9F7F3-F898-4E68-8D54-15F045E7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42D2AE"/>
                </a:solidFill>
              </a:defRPr>
            </a:pPr>
            <a:r>
              <a:rPr sz="1200" b="1">
                <a:solidFill>
                  <a:srgbClr val="42D2AE"/>
                </a:solidFill>
              </a:rPr>
              <a:t>记忆：PRD = 想做什么 ｜ Design = 怎么用 ｜ TDD = 怎么算完成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32B100-9CBF-48F6-8541-B352CC8E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838700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9CAEB0"/>
                </a:solidFill>
              </a:defRPr>
            </a:pPr>
            <a:r>
              <a:rPr sz="600" b="1">
                <a:solidFill>
                  <a:srgbClr val="9CAEB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286654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217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86FF687-F64D-40B2-8B6F-A53C9CC4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2AE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7A7A21B-552B-4216-A2F0-1393C4C4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3657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VIBE CODING 规范化操作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D5CBB7C-44E4-4543-8CBA-FD70905B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28600"/>
            <a:ext cx="3200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先知道是什么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535D656-2DBB-4B05-BE87-61DCC70A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73952"/>
            <a:ext cx="4572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A3C7898-7755-41A2-B58F-6B324ACC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42D2AE"/>
                </a:solidFill>
                <a:latin typeface="Hiragino Sans GB"/>
                <a:ea typeface="Hiragino Sans GB"/>
                <a:cs typeface="Hiragino Sans GB"/>
              </a:rPr>
              <a:t>三句话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4294981-B94F-47C4-B63B-E368C060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78992"/>
            <a:ext cx="10789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把重复工作交给 AI 做成一个能用的小工具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0663F4C-D733-407B-9F07-54B5CC0F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47088"/>
            <a:ext cx="10424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你不需要懂技术，只需要说清楚你想要的结果。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F0D1A36-580C-4892-8F6B-A9AE008D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88920"/>
            <a:ext cx="3337560" cy="16459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3EC903-7786-4B78-BAB3-F7049516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90672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42D2AE"/>
                </a:solidFill>
                <a:latin typeface="Hiragino Sans GB"/>
                <a:ea typeface="Hiragino Sans GB"/>
                <a:cs typeface="Hiragino Sans GB"/>
              </a:rPr>
              <a:t>这是什么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7747B6D-10B0-4AD0-92FB-C3CB46AD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61188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一套让 AI 按步骤做事的 Skill。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6C3BD48-05D1-4E6C-894F-FE4875369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272" y="2788920"/>
            <a:ext cx="3337560" cy="16459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8FB9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049A02-7151-4AD6-80D2-64A939CB1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3090672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8FB9FF"/>
                </a:solidFill>
                <a:latin typeface="Hiragino Sans GB"/>
                <a:ea typeface="Hiragino Sans GB"/>
                <a:cs typeface="Hiragino Sans GB"/>
              </a:rPr>
              <a:t>用来做什么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99789F82-33DE-4A74-84DC-4919BC9A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361188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把你的工作想法变成页面和流程。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51A3B1D-C351-44EB-8A15-FF493749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3" y="2788920"/>
            <a:ext cx="3337560" cy="164592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F6C8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D13D6B3-30F7-4875-9F08-197DB0BAB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3063" y="3090672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F6C85F"/>
                </a:solidFill>
                <a:latin typeface="Hiragino Sans GB"/>
                <a:ea typeface="Hiragino Sans GB"/>
                <a:cs typeface="Hiragino Sans GB"/>
              </a:rPr>
              <a:t>做完得到什么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9815E93-E520-4FDA-8C5B-FB96FFC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3063" y="3611880"/>
            <a:ext cx="2788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一个能点击、能演示、能继续修改的小 Demo。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8CEB154-340F-4B7F-9614-0B61C7AA4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166360"/>
            <a:ext cx="10515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可以做：客户跟进、Listing 检查、库存提醒、周报整理、审批台账等。</a:t>
            </a:r>
          </a:p>
        </p:txBody>
      </p:sp>
    </p:spTree>
    <p:extLst>
      <p:ext uri="{BB962C8B-B14F-4D97-AF65-F5344CB8AC3E}">
        <p14:creationId xmlns:p14="http://schemas.microsoft.com/office/powerpoint/2010/main" val="20785283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7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9E8A450-BB58-41FB-B9AD-9A9689B93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2AE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E15D7B-9576-46B5-B169-6E92EA41D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3657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VIBE CODING 规范化操作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20F424-5A80-4CF7-8CC4-918CB641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28600"/>
            <a:ext cx="3200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第一步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42450B6-1574-4BC3-993C-766C6C8B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73952"/>
            <a:ext cx="4572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0E6A8A-0202-4849-A7B8-B3FA43B2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42D2AE"/>
                </a:solidFill>
                <a:latin typeface="Hiragino Sans GB"/>
                <a:ea typeface="Hiragino Sans GB"/>
                <a:cs typeface="Hiragino Sans GB"/>
              </a:rPr>
              <a:t>一句话安装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60D0D6E-474E-4B39-AD1B-2D08A64B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78992"/>
            <a:ext cx="10789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复制对应命令，回车执行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46CA155-75D0-40E7-B91C-586F3202E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47088"/>
            <a:ext cx="10424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安装完成后重启 Codex 或 Claude。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C59970C-EA8C-4B1F-80A2-5FFAE6BB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06040"/>
            <a:ext cx="10789920" cy="100584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2D98A0A-214B-4355-BF9F-B3096CCF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788920"/>
            <a:ext cx="1371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>
                <a:solidFill>
                  <a:srgbClr val="42D2AE"/>
                </a:solidFill>
                <a:latin typeface="Hiragino Sans GB"/>
                <a:ea typeface="Hiragino Sans GB"/>
                <a:cs typeface="Hiragino Sans GB"/>
              </a:rPr>
              <a:t>Codex Code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D4FDA65-F9DE-4ED5-8301-D2C7692B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08960"/>
            <a:ext cx="10195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EDF4F2"/>
                </a:solidFill>
                <a:latin typeface="Menlo"/>
                <a:ea typeface="Menlo"/>
                <a:cs typeface="Menlo"/>
              </a:rPr>
              <a:t>curl -fsSL https://raw.githubusercontent.com/mozhou580-lgtm/vibe-coding-standardized-operation/main/install-online.sh | bash -s -- codex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78484C9-A004-4256-81A4-4DFE51CD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39"/>
            <a:ext cx="10789920" cy="100584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8FB9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1A48C29-06E4-4ED1-B0B0-568E11255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60520"/>
            <a:ext cx="1371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>
                <a:solidFill>
                  <a:srgbClr val="8FB9FF"/>
                </a:solidFill>
                <a:latin typeface="Hiragino Sans GB"/>
                <a:ea typeface="Hiragino Sans GB"/>
                <a:cs typeface="Hiragino Sans GB"/>
              </a:rPr>
              <a:t>Claude Code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F154043-2083-4D4D-817A-1399D2C7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480559"/>
            <a:ext cx="10195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EDF4F2"/>
                </a:solidFill>
                <a:latin typeface="Menlo"/>
                <a:ea typeface="Menlo"/>
                <a:cs typeface="Menlo"/>
              </a:rPr>
              <a:t>curl -fsSL https://raw.githubusercontent.com/mozhou580-lgtm/vibe-coding-standardized-operation/main/install-online.sh | bash -s -- claude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ABCFE03-EBEB-4B57-9632-3ED98426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715000"/>
            <a:ext cx="10332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0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安装的是：PRD Master、Design Master、TDD Master。</a:t>
            </a:r>
          </a:p>
        </p:txBody>
      </p:sp>
    </p:spTree>
    <p:extLst>
      <p:ext uri="{BB962C8B-B14F-4D97-AF65-F5344CB8AC3E}">
        <p14:creationId xmlns:p14="http://schemas.microsoft.com/office/powerpoint/2010/main" val="1924590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217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445FEF1-4052-4C4E-82A4-606403C9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2AE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F7A66B-9999-456B-8E63-DB69B52A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3657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VIBE CODING 规范化操作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343BDA2-77AD-462A-91A7-632C9CB3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28600"/>
            <a:ext cx="3200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第二步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953F630-B4E8-4CC8-B560-E0BE5A9A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73952"/>
            <a:ext cx="4572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926510-71DB-4F92-B53F-854CBEB4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42D2AE"/>
                </a:solidFill>
                <a:latin typeface="Hiragino Sans GB"/>
                <a:ea typeface="Hiragino Sans GB"/>
                <a:cs typeface="Hiragino Sans GB"/>
              </a:rPr>
              <a:t>一句话启动，接着照着说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D9FA9A5-9AD3-4B2B-9BF5-58EC3318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78992"/>
            <a:ext cx="10789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不要自己设计流程，直接复制下面的话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705D532-3761-45F8-A50B-17BF8A1C8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47088"/>
            <a:ext cx="10424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AI 会按推荐方案推进；只问会改变结果的问题。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852C9D5-89BC-4591-AA8B-203490A1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87168"/>
            <a:ext cx="1325880" cy="3840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42D2AE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8D314D6-A369-49CA-9632-03B5C2153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569464"/>
            <a:ext cx="1325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121719"/>
                </a:solidFill>
                <a:latin typeface="Hiragino Sans GB"/>
                <a:ea typeface="Hiragino Sans GB"/>
                <a:cs typeface="Hiragino Sans GB"/>
              </a:rPr>
              <a:t>启动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E69EAF6-EFC3-4ED5-AD65-42735571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2514600"/>
            <a:ext cx="89154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0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开始 PRD：我想做一个客户跟进工作台，请按推荐方案直接做一个最小可点击 Demo；只问会改变结果的问题。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79841FB-B0F8-4232-82EB-1C705358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054096"/>
            <a:ext cx="8869680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84B"/>
          </a:solidFill>
          <a:ln xmlns:a="http://schemas.openxmlformats.org/drawingml/2006/main">
            <a:solidFill>
              <a:srgbClr val="3A484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963F7589-D2AE-4C05-B421-6568AA11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255264"/>
            <a:ext cx="1325880" cy="3840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8FB9FF"/>
          </a:solidFill>
          <a:ln xmlns:a="http://schemas.openxmlformats.org/drawingml/2006/main">
            <a:solidFill>
              <a:srgbClr val="8FB9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D3A472F-358D-4868-AFE9-B09B7C0B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37560"/>
            <a:ext cx="1325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121719"/>
                </a:solidFill>
                <a:latin typeface="Hiragino Sans GB"/>
                <a:ea typeface="Hiragino Sans GB"/>
                <a:cs typeface="Hiragino Sans GB"/>
              </a:rPr>
              <a:t>继续 1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B256985-4698-41C2-B2DA-92D48E08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282696"/>
            <a:ext cx="89154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0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接着做设计：把刚才确认的产品草图变成页面和关键状态。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0953CD96-EE21-4851-9646-4A9D0B22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822191"/>
            <a:ext cx="8869680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84B"/>
          </a:solidFill>
          <a:ln xmlns:a="http://schemas.openxmlformats.org/drawingml/2006/main">
            <a:solidFill>
              <a:srgbClr val="3A484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2962396-3A8B-4A1B-88E1-568B3AC8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23360"/>
            <a:ext cx="1325880" cy="3840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C85F"/>
          </a:solidFill>
          <a:ln xmlns:a="http://schemas.openxmlformats.org/drawingml/2006/main">
            <a:solidFill>
              <a:srgbClr val="F6C8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B58A476-D1BC-47F9-A50A-C9249122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05656"/>
            <a:ext cx="1325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121719"/>
                </a:solidFill>
                <a:latin typeface="Hiragino Sans GB"/>
                <a:ea typeface="Hiragino Sans GB"/>
                <a:cs typeface="Hiragino Sans GB"/>
              </a:rPr>
              <a:t>继续 2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4ADD05F-FB67-45F8-B00B-FEA4B63A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050792"/>
            <a:ext cx="89154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0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生成 TDD 验收契约：告诉我现场看到什么才算完成。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4D6458D-DAF0-4325-A828-879F6C5B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590288"/>
            <a:ext cx="8869680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84B"/>
          </a:solidFill>
          <a:ln xmlns:a="http://schemas.openxmlformats.org/drawingml/2006/main">
            <a:solidFill>
              <a:srgbClr val="3A484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F4D6296-2B7D-437C-BD23-6520F4CD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91456"/>
            <a:ext cx="1325880" cy="38404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28B69"/>
          </a:solidFill>
          <a:ln xmlns:a="http://schemas.openxmlformats.org/drawingml/2006/main">
            <a:solidFill>
              <a:srgbClr val="F28B6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04CCCA2-62D7-4BFE-98D2-4B96DDDA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73752"/>
            <a:ext cx="13258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121719"/>
                </a:solidFill>
                <a:latin typeface="Hiragino Sans GB"/>
                <a:ea typeface="Hiragino Sans GB"/>
                <a:cs typeface="Hiragino Sans GB"/>
              </a:rPr>
              <a:t>继续 3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40A023C-D5EC-4A86-91A3-6121D83D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818888"/>
            <a:ext cx="89154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0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按当前 PRD、Design 和 TDD 做出小 Demo；遇到冲突先停下来问我。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E19D9E0F-8565-4847-9689-58431AE8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5358384"/>
            <a:ext cx="8869680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84B"/>
          </a:solidFill>
          <a:ln xmlns:a="http://schemas.openxmlformats.org/drawingml/2006/main">
            <a:solidFill>
              <a:srgbClr val="3A484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3131665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17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0E82DAB-06D1-4211-B53C-E355EBF3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2AE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A28B87B-B1D5-4CBF-ABF9-B798C0B2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3657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VIBE CODING 规范化操作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73EC925-F72C-43E8-BC3A-726063C4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28600"/>
            <a:ext cx="3200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第三步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057853F-1CED-4A8C-8548-AC6A8DA9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73952"/>
            <a:ext cx="4572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AE18BF-CF2C-4CB0-A216-711FD427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42D2AE"/>
                </a:solidFill>
                <a:latin typeface="Hiragino Sans GB"/>
                <a:ea typeface="Hiragino Sans GB"/>
                <a:cs typeface="Hiragino Sans GB"/>
              </a:rPr>
              <a:t>做一个小 DEMO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163C83F-ABDB-4BF7-BAE8-FBE9E46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78992"/>
            <a:ext cx="10789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选一件你现在正在做的工作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4E26173-CBAB-49ED-A34A-63ACB1E6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47088"/>
            <a:ext cx="10424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先做最小版本，不追求一次上线。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443F399-9FCA-463A-B58C-D84ECB95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97480"/>
            <a:ext cx="507492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3A6A284-086D-429D-8AEE-9A2539A7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42D2AE"/>
                </a:solidFill>
                <a:latin typeface="Hiragino Sans GB"/>
                <a:ea typeface="Hiragino Sans GB"/>
                <a:cs typeface="Hiragino Sans GB"/>
              </a:rPr>
              <a:t>1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0009E96-E4E1-4FCC-97A9-4D0D006B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19" y="2862072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选工作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4F616CC-7F53-4E10-A686-9730B726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880360"/>
            <a:ext cx="2468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客户跟进 / Listing / 库存 / 周报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BB460DA7-D327-4D08-958E-CCEFC1F3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97480"/>
            <a:ext cx="507492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8FB9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155A437-90D5-48C2-B471-EE26AA21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80360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8FB9FF"/>
                </a:solidFill>
                <a:latin typeface="Hiragino Sans GB"/>
                <a:ea typeface="Hiragino Sans GB"/>
                <a:cs typeface="Hiragino Sans GB"/>
              </a:rPr>
              <a:t>2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6258E75-B31E-484B-98E1-980328FC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862072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说清楚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C68D46A-D80A-46E7-899C-1C3DB4A7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80360"/>
            <a:ext cx="2468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谁用、什么时候用、想得到什么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252CE318-77FE-4A60-A905-12069331C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31920"/>
            <a:ext cx="507492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F6C8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E39FD35-8DFA-44EF-AFBF-983DF0D4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14800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F6C85F"/>
                </a:solidFill>
                <a:latin typeface="Hiragino Sans GB"/>
                <a:ea typeface="Hiragino Sans GB"/>
                <a:cs typeface="Hiragino Sans GB"/>
              </a:rPr>
              <a:t>3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558ABE9-234F-4367-849C-B4744316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19" y="4096512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跟着走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FC21450-C078-4FE4-82A0-18AF0EC12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4114800"/>
            <a:ext cx="2468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PRD → Design → TDD → Demo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82DBC878-E0CC-42C4-88EE-5AE5FB05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31920"/>
            <a:ext cx="507492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F28B6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A798ABB-86A7-4E28-BC50-244A48CA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14800"/>
            <a:ext cx="320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F28B69"/>
                </a:solidFill>
                <a:latin typeface="Hiragino Sans GB"/>
                <a:ea typeface="Hiragino Sans GB"/>
                <a:cs typeface="Hiragino Sans GB"/>
              </a:rPr>
              <a:t>4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3D1CCB7B-DD23-44EA-ACC1-AF938B60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096512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看结果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209E3D9-7D0B-40FA-B46F-660D4C52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14800"/>
            <a:ext cx="2468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能点击、能演示、知道哪里要改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39AC6830-892D-4176-A565-F77D44BF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623560"/>
            <a:ext cx="104241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Demo 做完后，让一个真实同事点一遍；有问题就回到对应步骤修改。</a:t>
            </a:r>
          </a:p>
        </p:txBody>
      </p:sp>
    </p:spTree>
    <p:extLst>
      <p:ext uri="{BB962C8B-B14F-4D97-AF65-F5344CB8AC3E}">
        <p14:creationId xmlns:p14="http://schemas.microsoft.com/office/powerpoint/2010/main" val="17636525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17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2C56344-669C-4C4D-B4A7-663E666F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2AE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9899BA0-FB5E-4669-9B0A-066C0380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3657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VIBE CODING 规范化操作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75A4202-0249-4642-BB4F-ADCD8878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28600"/>
            <a:ext cx="3200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只记这三条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2906B96-F47B-431D-823B-B0756A52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73952"/>
            <a:ext cx="4572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DDE0DA3-B3B7-4979-8F3C-2B611B13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42D2AE"/>
                </a:solidFill>
                <a:latin typeface="Hiragino Sans GB"/>
                <a:ea typeface="Hiragino Sans GB"/>
                <a:cs typeface="Hiragino Sans GB"/>
              </a:rPr>
              <a:t>你只需要负责判断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0E12C2-B05C-434D-84EC-B95EE38C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78992"/>
            <a:ext cx="10789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像不像我想要的？能不能真的用？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7F78174-F931-49E7-93C3-CBEFE489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47088"/>
            <a:ext cx="10424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其他技术问题由 Skill 和 AI 处理。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D5902E1-B3EA-4337-8C6C-304AB467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51760"/>
            <a:ext cx="10424160" cy="65836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62E6D2D-6A55-46B7-8BD2-6E4F86136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16352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42D2AE"/>
                </a:solidFill>
                <a:latin typeface="Hiragino Sans GB"/>
                <a:ea typeface="Hiragino Sans GB"/>
                <a:cs typeface="Hiragino Sans GB"/>
              </a:rPr>
              <a:t>AI 给推荐，你来拍板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18A71CE-C1CA-43AE-B4E2-80B3A1AC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816352"/>
            <a:ext cx="6035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不确定时直接说“按推荐方案”。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3B02D63-0C18-4669-A7EF-B6A0DFDA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66160"/>
            <a:ext cx="10424160" cy="65836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8FB9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77E1F33-DDF9-4425-8656-B5EEFF578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730752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8FB9FF"/>
                </a:solidFill>
                <a:latin typeface="Hiragino Sans GB"/>
                <a:ea typeface="Hiragino Sans GB"/>
                <a:cs typeface="Hiragino Sans GB"/>
              </a:rPr>
              <a:t>先做小版本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E0E5C47-EAB6-4E5F-96AB-F053D1E5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730752"/>
            <a:ext cx="6035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不要一开始加报表、权限、系统同步。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AAD2006F-67B5-424F-A3ED-8B0496A7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80560"/>
            <a:ext cx="10424160" cy="65836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F28B6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0710988-A877-44D1-BED8-DC76FD1E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645152"/>
            <a:ext cx="29260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F28B69"/>
                </a:solidFill>
                <a:latin typeface="Hiragino Sans GB"/>
                <a:ea typeface="Hiragino Sans GB"/>
                <a:cs typeface="Hiragino Sans GB"/>
              </a:rPr>
              <a:t>有问题就停下来问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1DA5A22-479A-49D8-A29B-367CF2A9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4645152"/>
            <a:ext cx="6035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不要让 AI 自己猜，也不要硬改。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2D7AFD8-0220-49A3-8A00-282966911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96128"/>
            <a:ext cx="10424160" cy="47548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E2B24"/>
          </a:solidFill>
          <a:ln xmlns:a="http://schemas.openxmlformats.org/drawingml/2006/main">
            <a:solidFill>
              <a:srgbClr val="F28B6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4A989E3-CB71-4E6B-A6CF-B8F6A1F0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33288"/>
            <a:ext cx="10058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>
                <a:solidFill>
                  <a:srgbClr val="F6C85F"/>
                </a:solidFill>
                <a:latin typeface="Hiragino Sans GB"/>
                <a:ea typeface="Hiragino Sans GB"/>
                <a:cs typeface="Hiragino Sans GB"/>
              </a:rPr>
              <a:t>遇到问题：截图 + 当前操作 + 你想要的结果，直接找 AIBP。</a:t>
            </a:r>
          </a:p>
        </p:txBody>
      </p:sp>
    </p:spTree>
    <p:extLst>
      <p:ext uri="{BB962C8B-B14F-4D97-AF65-F5344CB8AC3E}">
        <p14:creationId xmlns:p14="http://schemas.microsoft.com/office/powerpoint/2010/main" val="6248078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2171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81A07C2-E6EC-424C-8E57-D7CA8ED0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D2AE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3F4F174-E842-4B33-A9D4-E7FB1C20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28600"/>
            <a:ext cx="3657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VIBE CODING 规范化操作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2A5D3A9-9000-4EDA-B8B4-9972530F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28600"/>
            <a:ext cx="3200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带走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08F64C9-124A-4467-BE31-54B682FC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473952"/>
            <a:ext cx="4572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1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087DDD3-09AD-43F6-A317-32114850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749808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42D2AE"/>
                </a:solidFill>
                <a:latin typeface="Hiragino Sans GB"/>
                <a:ea typeface="Hiragino Sans GB"/>
                <a:cs typeface="Hiragino Sans GB"/>
              </a:rPr>
              <a:t>安装包和 DEMO 在 GITHUB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5B6E622-C71D-4C40-B8D6-24D90CCA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078992"/>
            <a:ext cx="107899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团队统一从这里开始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1D35DD2-E7F5-4064-9964-71CDD52D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47088"/>
            <a:ext cx="104241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9CAEB0"/>
                </a:solidFill>
                <a:latin typeface="Hiragino Sans GB"/>
                <a:ea typeface="Hiragino Sans GB"/>
                <a:cs typeface="Hiragino Sans GB"/>
              </a:rPr>
              <a:t>不需要到处找文件。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871B797-D5A8-4E3C-93A9-82F3F01B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51760"/>
            <a:ext cx="10424160" cy="914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202A2D"/>
          </a:solidFill>
          <a:ln xmlns:a="http://schemas.openxmlformats.org/drawingml/2006/main">
            <a:solidFill>
              <a:srgbClr val="42D2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55BCEA9-212E-4FC4-9933-4494DE73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53512"/>
            <a:ext cx="99669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EDF4F2"/>
                </a:solidFill>
                <a:latin typeface="Menlo"/>
                <a:ea typeface="Menlo"/>
                <a:cs typeface="Menlo"/>
              </a:rPr>
              <a:t>https://github.com/mozhou580-lgtm/vibe-coding-standardized-operation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4C44373-5F7E-4411-95DD-495C93495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11480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EDF4F2"/>
                </a:solidFill>
                <a:latin typeface="Hiragino Sans GB"/>
                <a:ea typeface="Hiragino Sans GB"/>
                <a:cs typeface="Hiragino Sans GB"/>
              </a:rPr>
              <a:t>仓库包含：安装脚本 · 3 个 Skill · Demo · 培训 PPT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6C0995E-3B9E-49A3-9CE9-D8CDDB81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92040"/>
            <a:ext cx="8229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42D2AE"/>
                </a:solidFill>
                <a:latin typeface="Hiragino Sans GB"/>
                <a:ea typeface="Hiragino Sans GB"/>
                <a:cs typeface="Hiragino Sans GB"/>
              </a:rPr>
              <a:t>今天的目标：每个人完成一个自己的小 Demo。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8A36AE6-6882-4589-B6A8-B5AAF9FC1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064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tIns="27432" rIns="45720" bIns="27432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F6C85F"/>
                </a:solidFill>
                <a:latin typeface="Hiragino Sans GB"/>
                <a:ea typeface="Hiragino Sans GB"/>
                <a:cs typeface="Hiragino Sans GB"/>
              </a:rPr>
              <a:t>Vibe Coding 规范化操作 · 有问题找 AIBP</a:t>
            </a:r>
          </a:p>
        </p:txBody>
      </p:sp>
    </p:spTree>
    <p:extLst>
      <p:ext uri="{BB962C8B-B14F-4D97-AF65-F5344CB8AC3E}">
        <p14:creationId xmlns:p14="http://schemas.microsoft.com/office/powerpoint/2010/main" val="133318989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2026-08-20T01:58:52.1250000Z</dcterms:created>
  <dcterms:modified xsi:type="dcterms:W3CDTF">2026-08-20T01:58:52.1250000Z</dcterms:modified>
</coreProperties>
</file>