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D2AE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42D2AE"/>
                </a:solidFill>
                <a:latin typeface="Hiragino Sans GB"/>
              </a:rPr>
              <a:t>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400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600" b="1">
                <a:solidFill>
                  <a:srgbClr val="EDF4F2"/>
                </a:solidFill>
                <a:latin typeface="Hiragino Sans GB"/>
              </a:rPr>
              <a:t>规范化操作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9CAEB0"/>
                </a:solidFill>
                <a:latin typeface="Hiragino Sans GB"/>
              </a:rPr>
              <a:t>给业务团队的一套 AI 实操方法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79392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EDF4F2"/>
                </a:solidFill>
                <a:latin typeface="Hiragino Sans GB"/>
              </a:rPr>
              <a:t>一句话安装 → 一句话启动 → 跟着 Skill 走 → 做一个小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6C85F"/>
                </a:solidFill>
                <a:latin typeface="Hiragino Sans GB"/>
              </a:rPr>
              <a:t>有问题，直接找 AIBP。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2AE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AEB0"/>
                </a:solidFill>
                <a:latin typeface="Hiragino Sans GB"/>
              </a:rPr>
              <a:t>VIBE CODING 规范化操作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2004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先知道是什么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2D2AE"/>
                </a:solidFill>
                <a:latin typeface="Hiragino Sans GB"/>
              </a:rPr>
              <a:t>三句话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EDF4F2"/>
                </a:solidFill>
                <a:latin typeface="Hiragino Sans GB"/>
              </a:rPr>
              <a:t>把重复工作交给 AI 做成一个能用的小工具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你不需要懂技术，只需要说清楚你想要的结果。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3337560" cy="164592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90672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42D2AE"/>
                </a:solidFill>
                <a:latin typeface="Hiragino Sans GB"/>
              </a:rPr>
              <a:t>这是什么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2788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EDF4F2"/>
                </a:solidFill>
                <a:latin typeface="Hiragino Sans GB"/>
              </a:rPr>
              <a:t>一套让 AI 按步骤做事的 Skill。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2788920"/>
            <a:ext cx="3337560" cy="164592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8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3090672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8FB9FF"/>
                </a:solidFill>
                <a:latin typeface="Hiragino Sans GB"/>
              </a:rPr>
              <a:t>用来做什么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611880"/>
            <a:ext cx="2788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EDF4F2"/>
                </a:solidFill>
                <a:latin typeface="Hiragino Sans GB"/>
              </a:rPr>
              <a:t>把你的工作想法变成页面和流程。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3" y="2788920"/>
            <a:ext cx="3337560" cy="164592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F6C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3" y="3090672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6C85F"/>
                </a:solidFill>
                <a:latin typeface="Hiragino Sans GB"/>
              </a:rPr>
              <a:t>做完得到什么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3" y="3611880"/>
            <a:ext cx="2788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EDF4F2"/>
                </a:solidFill>
                <a:latin typeface="Hiragino Sans GB"/>
              </a:rPr>
              <a:t>一个能点击、能演示、能继续修改的小 Demo。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66360"/>
            <a:ext cx="10515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EDF4F2"/>
                </a:solidFill>
                <a:latin typeface="Hiragino Sans GB"/>
              </a:rPr>
              <a:t>可以做：客户跟进、Listing 检查、库存提醒、周报整理、审批台账等。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2AE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AEB0"/>
                </a:solidFill>
                <a:latin typeface="Hiragino Sans GB"/>
              </a:rPr>
              <a:t>VIBE CODING 规范化操作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2004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第一步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2D2AE"/>
                </a:solidFill>
                <a:latin typeface="Hiragino Sans GB"/>
              </a:rPr>
              <a:t>一句话安装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EDF4F2"/>
                </a:solidFill>
                <a:latin typeface="Hiragino Sans GB"/>
              </a:rPr>
              <a:t>复制对应命令，回车执行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安装完成后重启 Codex 或 Claude。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789920" cy="100584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88920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42D2AE"/>
                </a:solidFill>
                <a:latin typeface="Hiragino Sans GB"/>
              </a:rPr>
              <a:t>Codex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08960"/>
            <a:ext cx="10195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EDF4F2"/>
                </a:solidFill>
                <a:latin typeface="Menlo"/>
              </a:rPr>
              <a:t>curl -fsSL https://raw.githubusercontent.com/mozhou580-lgtm/vibe-coding-standardized-operation/main/install-online.sh | bash -s -- codex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10789920" cy="100584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8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60520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8FB9FF"/>
                </a:solidFill>
                <a:latin typeface="Hiragino Sans GB"/>
              </a:rPr>
              <a:t>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480559"/>
            <a:ext cx="10195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EDF4F2"/>
                </a:solidFill>
                <a:latin typeface="Menlo"/>
              </a:rPr>
              <a:t>curl -fsSL https://raw.githubusercontent.com/mozhou580-lgtm/vibe-coding-standardized-operation/main/install-online.sh | bash -s --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15000"/>
            <a:ext cx="10332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9CAEB0"/>
                </a:solidFill>
                <a:latin typeface="Hiragino Sans GB"/>
              </a:rPr>
              <a:t>安装的是：PRD Master、Design Master、TDD Master。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2AE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AEB0"/>
                </a:solidFill>
                <a:latin typeface="Hiragino Sans GB"/>
              </a:rPr>
              <a:t>VIBE CODING 规范化操作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2004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第二步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2D2AE"/>
                </a:solidFill>
                <a:latin typeface="Hiragino Sans GB"/>
              </a:rPr>
              <a:t>一句话启动，接着照着说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EDF4F2"/>
                </a:solidFill>
                <a:latin typeface="Hiragino Sans GB"/>
              </a:rPr>
              <a:t>不要自己设计流程，直接复制下面的话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AI 会按推荐方案推进；只问会改变结果的问题。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87168"/>
            <a:ext cx="1325880" cy="384048"/>
          </a:xfrm>
          <a:prstGeom prst="roundRect">
            <a:avLst>
              <a:gd name="adj" fmla="val 8000"/>
            </a:avLst>
          </a:prstGeom>
          <a:solidFill>
            <a:srgbClr val="42D2AE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569464"/>
            <a:ext cx="13258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21719"/>
                </a:solidFill>
                <a:latin typeface="Hiragino Sans GB"/>
              </a:rPr>
              <a:t>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514600"/>
            <a:ext cx="89154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DF4F2"/>
                </a:solidFill>
                <a:latin typeface="Hiragino Sans GB"/>
              </a:rPr>
              <a:t>开始 PRD：我想做一个客户跟进工作台，请按推荐方案直接做一个最小可点击 Demo；只问会改变结果的问题。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054096"/>
            <a:ext cx="8869680" cy="9144"/>
          </a:xfrm>
          <a:prstGeom prst="rect">
            <a:avLst/>
          </a:prstGeom>
          <a:solidFill>
            <a:srgbClr val="3A484B"/>
          </a:solidFill>
          <a:ln>
            <a:solidFill>
              <a:srgbClr val="3A4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55264"/>
            <a:ext cx="1325880" cy="384048"/>
          </a:xfrm>
          <a:prstGeom prst="roundRect">
            <a:avLst>
              <a:gd name="adj" fmla="val 8000"/>
            </a:avLst>
          </a:prstGeom>
          <a:solidFill>
            <a:srgbClr val="8FB9FF"/>
          </a:solidFill>
          <a:ln>
            <a:solidFill>
              <a:srgbClr val="8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37560"/>
            <a:ext cx="13258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21719"/>
                </a:solidFill>
                <a:latin typeface="Hiragino Sans GB"/>
              </a:rPr>
              <a:t>继续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282696"/>
            <a:ext cx="89154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DF4F2"/>
                </a:solidFill>
                <a:latin typeface="Hiragino Sans GB"/>
              </a:rPr>
              <a:t>接着做设计：把刚才确认的产品草图变成页面和关键状态。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3822191"/>
            <a:ext cx="8869680" cy="9144"/>
          </a:xfrm>
          <a:prstGeom prst="rect">
            <a:avLst/>
          </a:prstGeom>
          <a:solidFill>
            <a:srgbClr val="3A484B"/>
          </a:solidFill>
          <a:ln>
            <a:solidFill>
              <a:srgbClr val="3A4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023360"/>
            <a:ext cx="1325880" cy="384048"/>
          </a:xfrm>
          <a:prstGeom prst="roundRect">
            <a:avLst>
              <a:gd name="adj" fmla="val 8000"/>
            </a:avLst>
          </a:prstGeom>
          <a:solidFill>
            <a:srgbClr val="F6C85F"/>
          </a:solidFill>
          <a:ln>
            <a:solidFill>
              <a:srgbClr val="F6C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05656"/>
            <a:ext cx="13258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21719"/>
                </a:solidFill>
                <a:latin typeface="Hiragino Sans GB"/>
              </a:rPr>
              <a:t>继续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050792"/>
            <a:ext cx="89154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DF4F2"/>
                </a:solidFill>
                <a:latin typeface="Hiragino Sans GB"/>
              </a:rPr>
              <a:t>生成 TDD 验收契约：告诉我现场看到什么才算完成。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4590288"/>
            <a:ext cx="8869680" cy="9144"/>
          </a:xfrm>
          <a:prstGeom prst="rect">
            <a:avLst/>
          </a:prstGeom>
          <a:solidFill>
            <a:srgbClr val="3A484B"/>
          </a:solidFill>
          <a:ln>
            <a:solidFill>
              <a:srgbClr val="3A4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791456"/>
            <a:ext cx="1325880" cy="384048"/>
          </a:xfrm>
          <a:prstGeom prst="roundRect">
            <a:avLst>
              <a:gd name="adj" fmla="val 8000"/>
            </a:avLst>
          </a:prstGeom>
          <a:solidFill>
            <a:srgbClr val="F28B69"/>
          </a:solidFill>
          <a:ln>
            <a:solidFill>
              <a:srgbClr val="F28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873752"/>
            <a:ext cx="13258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21719"/>
                </a:solidFill>
                <a:latin typeface="Hiragino Sans GB"/>
              </a:rPr>
              <a:t>继续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818888"/>
            <a:ext cx="891540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DF4F2"/>
                </a:solidFill>
                <a:latin typeface="Hiragino Sans GB"/>
              </a:rPr>
              <a:t>按当前 PRD、Design 和 TDD 做出小 Demo；遇到冲突先停下来问我。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5358384"/>
            <a:ext cx="8869680" cy="9144"/>
          </a:xfrm>
          <a:prstGeom prst="rect">
            <a:avLst/>
          </a:prstGeom>
          <a:solidFill>
            <a:srgbClr val="3A484B"/>
          </a:solidFill>
          <a:ln>
            <a:solidFill>
              <a:srgbClr val="3A4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2AE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AEB0"/>
                </a:solidFill>
                <a:latin typeface="Hiragino Sans GB"/>
              </a:rPr>
              <a:t>VIBE CODING 规范化操作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2004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第三步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2D2AE"/>
                </a:solidFill>
                <a:latin typeface="Hiragino Sans GB"/>
              </a:rPr>
              <a:t>做一个小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EDF4F2"/>
                </a:solidFill>
                <a:latin typeface="Hiragino Sans GB"/>
              </a:rPr>
              <a:t>选一件你现在正在做的工作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先做最小版本，不追求一次上线。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320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42D2AE"/>
                </a:solidFill>
                <a:latin typeface="Hiragino Sans GB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862072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EDF4F2"/>
                </a:solidFill>
                <a:latin typeface="Hiragino Sans GB"/>
              </a:rPr>
              <a:t>选工作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8036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客户跟进 / Listing / 库存 / 周报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69748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8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320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8FB9FF"/>
                </a:solidFill>
                <a:latin typeface="Hiragino Sans GB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862072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EDF4F2"/>
                </a:solidFill>
                <a:latin typeface="Hiragino Sans GB"/>
              </a:rPr>
              <a:t>说清楚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88036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谁用、什么时候用、想得到什么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F6C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320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6C85F"/>
                </a:solidFill>
                <a:latin typeface="Hiragino Sans GB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096512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EDF4F2"/>
                </a:solidFill>
                <a:latin typeface="Hiragino Sans GB"/>
              </a:rPr>
              <a:t>跟着走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11480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PRD → Design → TDD →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319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F28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320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28B69"/>
                </a:solidFill>
                <a:latin typeface="Hiragino Sans GB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096512"/>
            <a:ext cx="1554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EDF4F2"/>
                </a:solidFill>
                <a:latin typeface="Hiragino Sans GB"/>
              </a:rPr>
              <a:t>看结果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11480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能点击、能演示、知道哪里要改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62356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DF4F2"/>
                </a:solidFill>
                <a:latin typeface="Hiragino Sans GB"/>
              </a:rPr>
              <a:t>Demo 做完后，让一个真实同事点一遍；有问题就回到对应步骤修改。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2AE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AEB0"/>
                </a:solidFill>
                <a:latin typeface="Hiragino Sans GB"/>
              </a:rPr>
              <a:t>VIBE CODING 规范化操作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2004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只记这三条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2D2AE"/>
                </a:solidFill>
                <a:latin typeface="Hiragino Sans GB"/>
              </a:rPr>
              <a:t>你只需要负责判断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EDF4F2"/>
                </a:solidFill>
                <a:latin typeface="Hiragino Sans GB"/>
              </a:rPr>
              <a:t>像不像我想要的？能不能真的用？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其他技术问题由 Skill 和 AI 处理。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424160" cy="658368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16352"/>
            <a:ext cx="2926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2D2AE"/>
                </a:solidFill>
                <a:latin typeface="Hiragino Sans GB"/>
              </a:rPr>
              <a:t>AI 给推荐，你来拍板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816352"/>
            <a:ext cx="6035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EDF4F2"/>
                </a:solidFill>
                <a:latin typeface="Hiragino Sans GB"/>
              </a:rPr>
              <a:t>不确定时直接说“按推荐方案”。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424160" cy="658368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8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30752"/>
            <a:ext cx="2926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8FB9FF"/>
                </a:solidFill>
                <a:latin typeface="Hiragino Sans GB"/>
              </a:rPr>
              <a:t>先做小版本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30752"/>
            <a:ext cx="6035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EDF4F2"/>
                </a:solidFill>
                <a:latin typeface="Hiragino Sans GB"/>
              </a:rPr>
              <a:t>不要一开始加报表、权限、系统同步。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10424160" cy="658368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F28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45152"/>
            <a:ext cx="2926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28B69"/>
                </a:solidFill>
                <a:latin typeface="Hiragino Sans GB"/>
              </a:rPr>
              <a:t>有问题就停下来问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645152"/>
            <a:ext cx="6035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EDF4F2"/>
                </a:solidFill>
                <a:latin typeface="Hiragino Sans GB"/>
              </a:rPr>
              <a:t>不要让 AI 自己猜，也不要硬改。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96128"/>
            <a:ext cx="10424160" cy="475488"/>
          </a:xfrm>
          <a:prstGeom prst="roundRect">
            <a:avLst>
              <a:gd name="adj" fmla="val 8000"/>
            </a:avLst>
          </a:prstGeom>
          <a:solidFill>
            <a:srgbClr val="3E2B24"/>
          </a:solidFill>
          <a:ln>
            <a:solidFill>
              <a:srgbClr val="F28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33288"/>
            <a:ext cx="100584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6C85F"/>
                </a:solidFill>
                <a:latin typeface="Hiragino Sans GB"/>
              </a:rPr>
              <a:t>遇到问题：截图 + 当前操作 + 你想要的结果，直接找 AIBP。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D2AE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00" b="1">
                <a:solidFill>
                  <a:srgbClr val="9CAEB0"/>
                </a:solidFill>
                <a:latin typeface="Hiragino Sans GB"/>
              </a:rPr>
              <a:t>VIBE CODING 规范化操作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2004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带走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9CAEB0"/>
                </a:solidFill>
                <a:latin typeface="Hiragino Sans GB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2D2AE"/>
                </a:solidFill>
                <a:latin typeface="Hiragino Sans GB"/>
              </a:rPr>
              <a:t>安装包和 DEMO 在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EDF4F2"/>
                </a:solidFill>
                <a:latin typeface="Hiragino Sans GB"/>
              </a:rPr>
              <a:t>团队统一从这里开始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9CAEB0"/>
                </a:solidFill>
                <a:latin typeface="Hiragino Sans GB"/>
              </a:rPr>
              <a:t>不需要到处找文件。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202A2D"/>
          </a:solidFill>
          <a:ln>
            <a:solidFill>
              <a:srgbClr val="42D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53512"/>
            <a:ext cx="9966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EDF4F2"/>
                </a:solidFill>
                <a:latin typeface="Menlo"/>
              </a:rPr>
              <a:t>https://github.com/mozhou580-lgtm/vibe-coding-standardized-operation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EDF4F2"/>
                </a:solidFill>
                <a:latin typeface="Hiragino Sans GB"/>
              </a:rPr>
              <a:t>仓库包含：安装脚本 · 3 个 Skill · Demo · 培训 PPT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>
                <a:solidFill>
                  <a:srgbClr val="42D2AE"/>
                </a:solidFill>
                <a:latin typeface="Hiragino Sans GB"/>
              </a:rPr>
              <a:t>今天的目标：每个人完成一个自己的小 Demo。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6C85F"/>
                </a:solidFill>
                <a:latin typeface="Hiragino Sans GB"/>
              </a:rPr>
              <a:t>Vibe Coding 规范化操作 · 有问题找 AIBP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